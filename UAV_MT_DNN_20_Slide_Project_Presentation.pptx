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train accuracy (%)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Epoch 1</c:v>
                </c:pt>
                <c:pt idx="1">
                  <c:v>Epoch 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60.13</c:v>
                </c:pt>
                <c:pt idx="1">
                  <c:v>84.06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Semantic train accuracy (%)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Epoch 1</c:v>
                </c:pt>
                <c:pt idx="1">
                  <c:v>Epoch 30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85.42</c:v>
                </c:pt>
                <c:pt idx="1">
                  <c:v>96.67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5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MT-DNN</c:v>
                </c:pt>
                <c:pt idx="2">
                  <c:v>XGBoost</c:v>
                </c:pt>
                <c:pt idx="3">
                  <c:v>Random
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68.15</c:v>
                </c:pt>
                <c:pt idx="1">
                  <c:v>85.17</c:v>
                </c:pt>
                <c:pt idx="2">
                  <c:v>93.92</c:v>
                </c:pt>
                <c:pt idx="3">
                  <c:v>98.99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Accuracy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548640"/>
            <a:ext cx="1005840" cy="100584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645920"/>
            <a:ext cx="502920" cy="502920"/>
          </a:xfrm>
          <a:prstGeom prst="ellipse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743200"/>
            <a:ext cx="594360" cy="59436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3749039"/>
            <a:ext cx="822960" cy="822960"/>
          </a:xfrm>
          <a:prstGeom prst="ellipse">
            <a:avLst/>
          </a:prstGeom>
          <a:solidFill>
            <a:srgbClr val="192E4F"/>
          </a:solidFill>
          <a:ln>
            <a:solidFill>
              <a:srgbClr val="19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5029200"/>
            <a:ext cx="384048" cy="384048"/>
          </a:xfrm>
          <a:prstGeom prst="ellipse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5212080"/>
            <a:ext cx="329184" cy="329184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966960" y="1097280"/>
            <a:ext cx="1005840" cy="731520"/>
          </a:xfrm>
          <a:prstGeom prst="line">
            <a:avLst/>
          </a:prstGeom>
          <a:ln w="2032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235440" y="1554480"/>
            <a:ext cx="548640" cy="1371600"/>
          </a:xfrm>
          <a:prstGeom prst="line">
            <a:avLst/>
          </a:prstGeom>
          <a:ln w="2032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35440" y="3108960"/>
            <a:ext cx="1737360" cy="1005840"/>
          </a:xfrm>
          <a:prstGeom prst="line">
            <a:avLst/>
          </a:prstGeom>
          <a:ln w="2032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509760" y="4206240"/>
            <a:ext cx="1463040" cy="1005840"/>
          </a:xfrm>
          <a:prstGeom prst="line">
            <a:avLst/>
          </a:prstGeom>
          <a:ln w="2032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0" y="2103120"/>
            <a:ext cx="91440" cy="1645919"/>
          </a:xfrm>
          <a:prstGeom prst="line">
            <a:avLst/>
          </a:prstGeom>
          <a:ln w="2032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68580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BB54C"/>
                </a:solidFill>
                <a:latin typeface="Aptos"/>
              </a:defRPr>
            </a:pPr>
            <a:r>
              <a:t>MACHINE LEARNING • PROJECT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325880"/>
            <a:ext cx="7863840" cy="1920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Multi-Task Deep Neural Network</a:t>
            </a:r>
          </a:p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for UAV Emergency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520440"/>
            <a:ext cx="72237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CDDCEE"/>
                </a:solidFill>
                <a:latin typeface="Aptos"/>
              </a:defRPr>
            </a:pPr>
            <a:r>
              <a:t>Emergency message priority and semantic-loss tolerance prediction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709160"/>
            <a:ext cx="5577840" cy="64008"/>
          </a:xfrm>
          <a:prstGeom prst="round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074920"/>
            <a:ext cx="69494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Team Members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2520040030 – T. Sree Chandana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2520040119 – R. Sameera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2520040037 – K. Joshita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355080"/>
            <a:ext cx="5943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B4C5DB"/>
                </a:solidFill>
                <a:latin typeface="Aptos"/>
              </a:defRPr>
            </a:pPr>
            <a:r>
              <a:t>Software-based experiment using Python and a UAV simulation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Introduction to UAV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3474720" cy="182880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73152" cy="1828800"/>
          </a:xfrm>
          <a:prstGeom prst="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2763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What is a UAV?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48256"/>
            <a:ext cx="310896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UAV means Unmanned Aerial Vehicle.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A drone that can fly without a pilot inside.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81328"/>
            <a:ext cx="3474720" cy="182880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81328"/>
            <a:ext cx="73152" cy="18288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62763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Where is it useful?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48256"/>
            <a:ext cx="310896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Disaster response, search and rescue, and checking hard-to-reach areas.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81328"/>
            <a:ext cx="3474720" cy="182880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81328"/>
            <a:ext cx="73152" cy="1828800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627632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Why communication?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48256"/>
            <a:ext cx="310896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Drones need to share updates, warnings, and other information quickly.</a:t>
            </a:r>
          </a:p>
        </p:txBody>
      </p:sp>
      <p:sp>
        <p:nvSpPr>
          <p:cNvPr id="19" name="Oval 18"/>
          <p:cNvSpPr/>
          <p:nvPr/>
        </p:nvSpPr>
        <p:spPr>
          <a:xfrm>
            <a:off x="1920240" y="4069080"/>
            <a:ext cx="658368" cy="65836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782312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5D6C7E"/>
                </a:solidFill>
                <a:latin typeface="Aptos"/>
              </a:defRPr>
            </a:pPr>
            <a:r>
              <a:t>Drone 1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754880"/>
            <a:ext cx="658368" cy="65836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468112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5D6C7E"/>
                </a:solidFill>
                <a:latin typeface="Aptos"/>
              </a:defRPr>
            </a:pPr>
            <a:r>
              <a:t>Drone 2</a:t>
            </a:r>
          </a:p>
        </p:txBody>
      </p:sp>
      <p:sp>
        <p:nvSpPr>
          <p:cNvPr id="23" name="Oval 22"/>
          <p:cNvSpPr/>
          <p:nvPr/>
        </p:nvSpPr>
        <p:spPr>
          <a:xfrm>
            <a:off x="7863840" y="3977639"/>
            <a:ext cx="658368" cy="65836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690872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5D6C7E"/>
                </a:solidFill>
                <a:latin typeface="Aptos"/>
              </a:defRPr>
            </a:pPr>
            <a:r>
              <a:t>Drone 3</a:t>
            </a:r>
          </a:p>
        </p:txBody>
      </p:sp>
      <p:sp>
        <p:nvSpPr>
          <p:cNvPr id="25" name="Oval 24"/>
          <p:cNvSpPr/>
          <p:nvPr/>
        </p:nvSpPr>
        <p:spPr>
          <a:xfrm>
            <a:off x="10058400" y="4800600"/>
            <a:ext cx="658368" cy="658368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513832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5D6C7E"/>
                </a:solidFill>
                <a:latin typeface="Aptos"/>
              </a:defRPr>
            </a:pPr>
            <a:r>
              <a:t>Ground team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4343400"/>
            <a:ext cx="2377440" cy="45720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0" y="4315968"/>
            <a:ext cx="2423160" cy="484632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03920" y="4389120"/>
            <a:ext cx="1554480" cy="45720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97280" y="5623560"/>
            <a:ext cx="9875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Our focus: use network measurements to predict which links or messages may need more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1F3A"/>
                </a:solidFill>
                <a:latin typeface="Aptos"/>
              </a:defRPr>
            </a:pPr>
            <a:r>
              <a:t>In an emergency, not all information is equally important.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30552"/>
            <a:ext cx="109728" cy="10972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8920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UAV links can be unstable.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48920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Network capacity and bandwidth are limited.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10712"/>
            <a:ext cx="109728" cy="10972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37560"/>
            <a:ext cx="48920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Packets may be delayed or lost.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50792"/>
            <a:ext cx="109728" cy="109728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40"/>
            <a:ext cx="48920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Treating every message the same may waste resources.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00200"/>
            <a:ext cx="4754880" cy="347472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874519"/>
            <a:ext cx="4114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01F3A"/>
                </a:solidFill>
                <a:latin typeface="Aptos"/>
              </a:defRPr>
            </a:pPr>
            <a:r>
              <a:t>The problem we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68880"/>
            <a:ext cx="406908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22F3E"/>
                </a:solidFill>
                <a:latin typeface="Aptos"/>
              </a:defRPr>
            </a:pPr>
            <a:r>
              <a:t>Can one model use UAV network features to predict:</a:t>
            </a:r>
          </a:p>
          <a:p>
            <a:pPr>
              <a:spcAft>
                <a:spcPts val="600"/>
              </a:spcAft>
              <a:defRPr sz="18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222F3E"/>
                </a:solidFill>
                <a:latin typeface="Aptos"/>
              </a:defRPr>
            </a:pPr>
            <a:r>
              <a:t>1. Priority: High, Medium, or Low</a:t>
            </a:r>
          </a:p>
          <a:p>
            <a:pPr>
              <a:spcAft>
                <a:spcPts val="600"/>
              </a:spcAft>
              <a:defRPr sz="1800" b="0">
                <a:solidFill>
                  <a:srgbClr val="222F3E"/>
                </a:solidFill>
                <a:latin typeface="Aptos"/>
              </a:defRPr>
            </a:pPr>
            <a:r>
              <a:t>2. Semantic-loss tolerance: High or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C74D4D"/>
                </a:solidFill>
                <a:latin typeface="Aptos"/>
              </a:defRPr>
            </a:pPr>
            <a:r>
              <a:t>This project predicts two labels; it does not yet control a real UAV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04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578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373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Predict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94560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Classify network records as High, Medium, or Low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5257800" cy="155448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828800"/>
            <a:ext cx="594360" cy="594360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7373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Predict tolerance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194560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Classify semantic-loss tolerance as High or 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5257800" cy="155448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886200"/>
            <a:ext cx="594360" cy="59436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947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Share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51960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Use one neural network with shared layers for both tasks.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257800" cy="155448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3886200"/>
            <a:ext cx="594360" cy="594360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7947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Measure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251960"/>
            <a:ext cx="3886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Evaluate both predictions and compare priority results with baseline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Dataset and Simulation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212080" cy="132588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55063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84632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FANET Dataset NS-3.40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Selected file: Link_Stability_For_ML_Scenario1.csv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12080" cy="132588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32588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55063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What the data contains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75688"/>
            <a:ext cx="484632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Measurements of UAV network links, movement, energy, signal quality, and data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429000"/>
            <a:ext cx="1920240" cy="123444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611880"/>
            <a:ext cx="17739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01F3A"/>
                </a:solidFill>
                <a:latin typeface="Aptos"/>
              </a:defRPr>
            </a:pPr>
            <a:r>
              <a:t>12,339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16052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3429000"/>
            <a:ext cx="1920240" cy="123444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3611880"/>
            <a:ext cx="17739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01F3A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416052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429000"/>
            <a:ext cx="1920240" cy="123444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611880"/>
            <a:ext cx="17739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01F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6052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429000"/>
            <a:ext cx="1920240" cy="123444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3611880"/>
            <a:ext cx="177393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101F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4160520"/>
            <a:ext cx="1773936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selected scenario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Important: the dataset comes from a network simulation. The current notebook trains a machine-learning model on this existing data; it does not run a new network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Input Features Used by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306324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3063240"/>
          </a:xfrm>
          <a:prstGeom prst="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3794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Link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58568"/>
            <a:ext cx="3063240" cy="2404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distance_m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nb_hello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symmetrical_link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new_link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91640"/>
            <a:ext cx="3429000" cy="306324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691640"/>
            <a:ext cx="73152" cy="306324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83794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58568"/>
            <a:ext cx="3063240" cy="2404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vel_x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vel_y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vel_z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speed_m_s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691640"/>
            <a:ext cx="3429000" cy="306324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691640"/>
            <a:ext cx="73152" cy="3063240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837944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258568"/>
            <a:ext cx="3063240" cy="2404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remaining_energy</a:t>
            </a:r>
          </a:p>
          <a:p>
            <a:pPr>
              <a:spcAft>
                <a:spcPts val="600"/>
              </a:spcAft>
              <a:defRPr sz="1700" b="0">
                <a:solidFill>
                  <a:srgbClr val="222F3E"/>
                </a:solidFill>
                <a:latin typeface="Aptos"/>
              </a:defRPr>
            </a:pPr>
            <a:r>
              <a:t>DataRate_Mbps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Total: 10 input features. The code does not use link_lifetime_s or SNR_dB as inputs because they are used to create the output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How the Two Output Labels Are Created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07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303520" cy="324612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3246120"/>
          </a:xfrm>
          <a:prstGeom prst="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55063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1. Message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937759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The code checks link lifetime: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• Short lifetime → High priority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• Middle range → Medium priority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• Long lifetime → Low priority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Cutoffs: 25th and 75th percentiles.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03520" cy="324612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73152" cy="324612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2. Semantic-loss tolerance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75688"/>
            <a:ext cx="4937759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The code checks SNR (signal-to-noise ratio):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• SNR below the dataset median → Low tolerance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• SNR at or above the median → High tolerance</a:t>
            </a: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222F3E"/>
                </a:solidFill>
                <a:latin typeface="Aptos"/>
              </a:defRPr>
            </a:pPr>
            <a:r>
              <a:t>Median SNR: about 15.516 dB.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C74D4D"/>
                </a:solidFill>
                <a:latin typeface="Aptos"/>
              </a:defRPr>
            </a:pPr>
            <a:r>
              <a:t>These are project-defined labels created by rules; they are not direct labels for real emergency-message meaning.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08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28800" cy="132588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691640"/>
            <a:ext cx="530352" cy="530352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1645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Input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10 features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971800"/>
            <a:ext cx="457200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331720"/>
            <a:ext cx="1828800" cy="132588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39" y="1691640"/>
            <a:ext cx="530352" cy="530352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60320"/>
            <a:ext cx="1645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Prepare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2971800"/>
            <a:ext cx="457200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331720"/>
            <a:ext cx="1828800" cy="132588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691640"/>
            <a:ext cx="530352" cy="530352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60320"/>
            <a:ext cx="1645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Shared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neural layers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2971800"/>
            <a:ext cx="457200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2331720"/>
            <a:ext cx="1828800" cy="132588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92440" y="1691640"/>
            <a:ext cx="530352" cy="530352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560320"/>
            <a:ext cx="1645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Two output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branches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81160" y="2971800"/>
            <a:ext cx="457200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331720"/>
            <a:ext cx="1828800" cy="132588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78440" y="1691640"/>
            <a:ext cx="530352" cy="530352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560320"/>
            <a:ext cx="1645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Two predictions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222F3E"/>
                </a:solidFill>
                <a:latin typeface="Aptos"/>
              </a:defRPr>
            </a:pPr>
            <a:r>
              <a:t>A Multi-Task Deep Neural Network (MT-DNN) learns shared patterns once, then makes two predictions from separate output branches.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MT-DNN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09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554480" cy="105156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04872"/>
            <a:ext cx="140817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10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07208"/>
            <a:ext cx="1408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D6C7E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240280"/>
            <a:ext cx="1645920" cy="105156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2404872"/>
            <a:ext cx="1499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64 neurons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807208"/>
            <a:ext cx="14996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D6C7E"/>
                </a:solidFill>
                <a:latin typeface="Aptos"/>
              </a:defRPr>
            </a:pPr>
            <a:r>
              <a:t>Shared layer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240280"/>
            <a:ext cx="1645920" cy="105156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404872"/>
            <a:ext cx="1499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Dropout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807208"/>
            <a:ext cx="14996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D6C7E"/>
                </a:solidFill>
                <a:latin typeface="Aptos"/>
              </a:defRPr>
            </a:pPr>
            <a:r>
              <a:t>Regularisation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240280"/>
            <a:ext cx="1645920" cy="105156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404872"/>
            <a:ext cx="1499616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32 neurons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807208"/>
            <a:ext cx="14996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D6C7E"/>
                </a:solidFill>
                <a:latin typeface="Aptos"/>
              </a:defRPr>
            </a:pPr>
            <a:r>
              <a:t>Shared layer 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48840" y="2743200"/>
            <a:ext cx="365760" cy="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160520" y="2743200"/>
            <a:ext cx="365760" cy="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72200" y="2743200"/>
            <a:ext cx="365760" cy="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83879" y="2743200"/>
            <a:ext cx="365761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549640" y="1828800"/>
            <a:ext cx="0" cy="91440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49640" y="2743200"/>
            <a:ext cx="0" cy="146304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23960" y="1417320"/>
            <a:ext cx="2651760" cy="114300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1417320"/>
            <a:ext cx="73152" cy="1143000"/>
          </a:xfrm>
          <a:prstGeom prst="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5128" y="1563624"/>
            <a:ext cx="2286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Priority branch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984248"/>
            <a:ext cx="22860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22F3E"/>
                </a:solidFill>
                <a:latin typeface="Aptos"/>
              </a:defRPr>
            </a:pPr>
            <a:r>
              <a:t>16 neurons → 3 classes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657600"/>
            <a:ext cx="2651760" cy="114300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3960" y="3657600"/>
            <a:ext cx="73152" cy="11430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3803904"/>
            <a:ext cx="2286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Tolerance branch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4224528"/>
            <a:ext cx="2286000" cy="4846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22F3E"/>
                </a:solidFill>
                <a:latin typeface="Aptos"/>
              </a:defRPr>
            </a:pPr>
            <a:r>
              <a:t>16 neurons → 2 classes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Model settings: ReLU hidden layers • Softmax outputs • Adam optimizer • Learning rate 0.001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Proposed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10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74980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1. Load the selected CSV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120640" cy="74980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79191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2. Create priority and tolerance labels using the code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120640" cy="74980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76472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3. Select 10 input features and encode the labels.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79"/>
            <a:ext cx="5120640" cy="74980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873751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4. Split records into training (80%) and testing (20%).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5120640" cy="74980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581912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5. Scale the input features using StandardScaler.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560320"/>
            <a:ext cx="5120640" cy="74980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679191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6. Train the shared neural network for 30 epochs.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57600"/>
            <a:ext cx="5120640" cy="74980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776472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7. Predict both outputs for the test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54879"/>
            <a:ext cx="5120640" cy="74980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873751"/>
            <a:ext cx="480060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F3E"/>
                </a:solidFill>
                <a:latin typeface="Aptos"/>
              </a:defRPr>
            </a:pPr>
            <a:r>
              <a:t>8. Calculate metrics and compare priority accuracy with baseline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Project Workflow and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11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69164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1481328"/>
            <a:ext cx="548640" cy="54864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463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Read CSV with Pandas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971800"/>
            <a:ext cx="246888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0591" y="2057400"/>
            <a:ext cx="1691640" cy="1874519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1481328"/>
            <a:ext cx="548640" cy="548640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331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34640"/>
            <a:ext cx="1463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Create labels; select 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42231" y="2971800"/>
            <a:ext cx="246889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98264" y="2057400"/>
            <a:ext cx="169164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65192" y="1481328"/>
            <a:ext cx="548640" cy="54864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3" y="2331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Split &amp;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834640"/>
            <a:ext cx="1463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80/20 split; standardise inputs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2971800"/>
            <a:ext cx="246888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45936" y="2057400"/>
            <a:ext cx="1691640" cy="1874519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12864" y="1481328"/>
            <a:ext cx="548640" cy="548640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5" y="2331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Build &amp; 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834640"/>
            <a:ext cx="1463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TensorFlow / Keras MT-DNN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37575" y="2971800"/>
            <a:ext cx="246888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93608" y="2057400"/>
            <a:ext cx="1691640" cy="1874519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60536" y="1481328"/>
            <a:ext cx="548640" cy="54864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2331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2834640"/>
            <a:ext cx="1463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Generate both output classes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85248" y="2971800"/>
            <a:ext cx="246888" cy="0"/>
          </a:xfrm>
          <a:prstGeom prst="line">
            <a:avLst/>
          </a:prstGeom>
          <a:ln w="25400">
            <a:solidFill>
              <a:srgbClr val="EBB5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41280" y="2057400"/>
            <a:ext cx="1691640" cy="1874519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08207" y="1481328"/>
            <a:ext cx="548640" cy="548640"/>
          </a:xfrm>
          <a:prstGeom prst="ellipse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19" y="2331720"/>
            <a:ext cx="1508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7" y="2834640"/>
            <a:ext cx="1463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Metrics, confusion matrices, comparison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Tools used: Python • Jupyter Notebook • Pandas • NumPy • Scikit-learn • TensorFlow/Keras • XGBoost • Matplotlib/Seaborn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Model Training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12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50876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5D6C7E"/>
                </a:solidFill>
                <a:latin typeface="Aptos"/>
              </a:defRPr>
            </a:pPr>
            <a:r>
              <a:t>Train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01F3A"/>
                </a:solidFill>
                <a:latin typeface="Aptos"/>
              </a:defRPr>
            </a:pPr>
            <a:r>
              <a:t>9,871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68880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80% of labelled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429000" cy="150876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18488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5D6C7E"/>
                </a:solidFill>
                <a:latin typeface="Aptos"/>
              </a:defRPr>
            </a:pPr>
            <a:r>
              <a:t>Test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47672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01F3A"/>
                </a:solidFill>
                <a:latin typeface="Aptos"/>
              </a:defRPr>
            </a:pPr>
            <a:r>
              <a:t>2,468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468880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Held out for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08760"/>
            <a:ext cx="3429000" cy="150876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618488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5D6C7E"/>
                </a:solidFill>
                <a:latin typeface="Aptos"/>
              </a:defRPr>
            </a:pPr>
            <a:r>
              <a:t>Epochs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947672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01F3A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468880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Full passes through training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429000" cy="150876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584448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5D6C7E"/>
                </a:solidFill>
                <a:latin typeface="Aptos"/>
              </a:defRPr>
            </a:pPr>
            <a:r>
              <a:t>Batch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913631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01F3A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434840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Records processed per 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474720"/>
            <a:ext cx="3429000" cy="150876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3584448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5D6C7E"/>
                </a:solidFill>
                <a:latin typeface="Aptos"/>
              </a:defRPr>
            </a:pPr>
            <a:r>
              <a:t>Validation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913631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01F3A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434840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Taken from training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74720"/>
            <a:ext cx="3429000" cy="150876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3584448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5D6C7E"/>
                </a:solidFill>
                <a:latin typeface="Aptos"/>
              </a:defRPr>
            </a:pPr>
            <a:r>
              <a:t>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3913631"/>
            <a:ext cx="31089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01F3A"/>
                </a:solidFill>
                <a:latin typeface="Aptos"/>
              </a:defRPr>
            </a:pPr>
            <a:r>
              <a:t>Adam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434840"/>
            <a:ext cx="3108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Learning rate = 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5D6C7E"/>
                </a:solidFill>
                <a:latin typeface="Aptos"/>
              </a:defRPr>
            </a:pPr>
            <a:r>
              <a:t>The split uses random_state = 42 and stratifies the combined output labels.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Simulation and Software Experiment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13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246120" cy="205740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73152" cy="2057400"/>
          </a:xfrm>
          <a:prstGeom prst="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Data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288036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Existing NS-3.40 FANET simulation output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CSV: Scenario 1 ML-ready link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246120" cy="205740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73152" cy="205740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70078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Software experiment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121408"/>
            <a:ext cx="288036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Python notebook loads, prepares, trains, and tests the MT-DNN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54480"/>
            <a:ext cx="3246120" cy="205740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554480"/>
            <a:ext cx="73152" cy="2057400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700784"/>
            <a:ext cx="2880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121408"/>
            <a:ext cx="288036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Predicted classes, accuracy metrics, confusion matrices, and comparison chart.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2606040"/>
            <a:ext cx="548640" cy="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26679" y="2606040"/>
            <a:ext cx="548641" cy="0"/>
          </a:xfrm>
          <a:prstGeom prst="line">
            <a:avLst/>
          </a:prstGeom>
          <a:ln w="25400">
            <a:solidFill>
              <a:srgbClr val="19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251960"/>
            <a:ext cx="103327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462272"/>
            <a:ext cx="9875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No new UAV simulation is run by this notebook. The experiment is software-only and uses data produced by an existing network simulation.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Sample Prediction from the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Example input (10 network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distance_m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74519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227.998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nb_hello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3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symmetrical_link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60903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new_link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54096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47287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velocity (x, y, 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47287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-2.833, -8.664, -2.340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79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speed_m_s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40479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9.411 m/s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remaining_energy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233672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108.221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26864"/>
            <a:ext cx="2103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D6C7E"/>
                </a:solidFill>
                <a:latin typeface="Aptos"/>
              </a:defRPr>
            </a:pPr>
            <a:r>
              <a:t>DataRate_Mbps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626864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11.0 Mbps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1691640"/>
            <a:ext cx="5166360" cy="150876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92024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Predicted message priority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59152"/>
            <a:ext cx="4526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700" b="1">
                <a:solidFill>
                  <a:srgbClr val="19A6A0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566160"/>
            <a:ext cx="5166360" cy="150876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Predicted semantic-loss tolerance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224528"/>
            <a:ext cx="4526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700" b="1">
                <a:solidFill>
                  <a:srgbClr val="2D8C5E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486400"/>
            <a:ext cx="4937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D6C7E"/>
                </a:solidFill>
                <a:latin typeface="Aptos"/>
              </a:defRPr>
            </a:pPr>
            <a:r>
              <a:t>One example from the held-out test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15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61320" cy="65836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45336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45336"/>
            <a:ext cx="7635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How many predictions were correct overall.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13432"/>
            <a:ext cx="10561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41448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41448"/>
            <a:ext cx="7635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When the model predicts a class, how often is it correct?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9544"/>
            <a:ext cx="10561320" cy="65836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3756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337560"/>
            <a:ext cx="7635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How many actual records of a class did it find?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05656"/>
            <a:ext cx="10561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33672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233672"/>
            <a:ext cx="7635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A balance between precision and recall.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01768"/>
            <a:ext cx="10561320" cy="658368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29783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129783"/>
            <a:ext cx="7635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A table of correct and incorrect predictions by 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5D6C7E"/>
                </a:solidFill>
                <a:latin typeface="Aptos"/>
              </a:defRPr>
            </a:pPr>
            <a:r>
              <a:t>Precision, recall, and F1-score are reported as weighted averages in the notebook.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MT-DNN Experimental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16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4846320" cy="2240280"/>
          </a:xfrm>
          <a:prstGeom prst="roundRect">
            <a:avLst/>
          </a:prstGeom>
          <a:solidFill>
            <a:srgbClr val="E4EDFA"/>
          </a:solidFill>
          <a:ln>
            <a:solidFill>
              <a:srgbClr val="E4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Message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19A6A0"/>
                </a:solidFill>
                <a:latin typeface="Aptos"/>
              </a:defRPr>
            </a:pPr>
            <a:r>
              <a:t>85.17%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5D6C7E"/>
                </a:solidFill>
                <a:latin typeface="Aptos"/>
              </a:defRPr>
            </a:pPr>
            <a:r>
              <a:t>Accuracy across 3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4846320" cy="224028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Semantic-loss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2D8C5E"/>
                </a:solidFill>
                <a:latin typeface="Aptos"/>
              </a:defRPr>
            </a:pPr>
            <a:r>
              <a:t>96.56%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4612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5D6C7E"/>
                </a:solidFill>
                <a:latin typeface="Aptos"/>
              </a:defRPr>
            </a:pPr>
            <a:r>
              <a:t>Accuracy across 2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01F3A"/>
                </a:solidFill>
                <a:latin typeface="Aptos"/>
              </a:defRPr>
            </a:pPr>
            <a:r>
              <a:t>Weighted test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00600"/>
            <a:ext cx="4023360" cy="384048"/>
          </a:xfrm>
          <a:prstGeom prst="roundRect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55464"/>
            <a:ext cx="3931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800600"/>
            <a:ext cx="2011680" cy="384048"/>
          </a:xfrm>
          <a:prstGeom prst="roundRect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485546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4800600"/>
            <a:ext cx="2011680" cy="384048"/>
          </a:xfrm>
          <a:prstGeom prst="roundRect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485546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800600"/>
            <a:ext cx="2011680" cy="384048"/>
          </a:xfrm>
          <a:prstGeom prst="roundRect">
            <a:avLst/>
          </a:prstGeom>
          <a:solidFill>
            <a:srgbClr val="101F3A"/>
          </a:solidFill>
          <a:ln>
            <a:solidFill>
              <a:srgbClr val="10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485546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212080"/>
            <a:ext cx="4023360" cy="38404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66944"/>
            <a:ext cx="3931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22F3E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5212080"/>
            <a:ext cx="2011680" cy="38404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526694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85.28%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5212080"/>
            <a:ext cx="2011680" cy="38404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526694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85.17%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5212080"/>
            <a:ext cx="2011680" cy="384048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526694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85.11%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623560"/>
            <a:ext cx="4023360" cy="38404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678424"/>
            <a:ext cx="3931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22F3E"/>
                </a:solidFill>
                <a:latin typeface="Aptos"/>
              </a:defRPr>
            </a:pPr>
            <a:r>
              <a:t>Semantic-loss tolerance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5623560"/>
            <a:ext cx="2011680" cy="38404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567842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96.61%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5623560"/>
            <a:ext cx="2011680" cy="38404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567842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96.56%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5623560"/>
            <a:ext cx="2011680" cy="384048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5678424"/>
            <a:ext cx="1920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22F3E"/>
                </a:solidFill>
                <a:latin typeface="Aptos"/>
              </a:defRPr>
            </a:pPr>
            <a:r>
              <a:t>96.55%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01F3A"/>
                </a:solidFill>
                <a:latin typeface="Aptos"/>
              </a:defRPr>
            </a:pPr>
            <a:r>
              <a:t>Actual Confusion Matrices from the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5D6C7E"/>
                </a:solidFill>
                <a:latin typeface="Aptos"/>
              </a:defRPr>
            </a:pPr>
            <a: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101F3A"/>
                </a:solidFill>
                <a:latin typeface="Aptos"/>
              </a:defRPr>
            </a:pPr>
            <a:r>
              <a:t>Message Priority (High / Medium / 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53312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101F3A"/>
                </a:solidFill>
                <a:latin typeface="Aptos"/>
              </a:defRPr>
            </a:pPr>
            <a:r>
              <a:t>Semantic-Loss Tolerance (High / Low)</a:t>
            </a:r>
          </a:p>
        </p:txBody>
      </p:sp>
      <p:pic>
        <p:nvPicPr>
          <p:cNvPr id="9" name="Picture 8" descr="notebook_pl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4208"/>
            <a:ext cx="5349240" cy="4526280"/>
          </a:xfrm>
          <a:prstGeom prst="rect">
            <a:avLst/>
          </a:prstGeom>
        </p:spPr>
      </p:pic>
      <p:pic>
        <p:nvPicPr>
          <p:cNvPr id="10" name="Picture 9" descr="notebook_plo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664208"/>
            <a:ext cx="53492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101F3A"/>
                </a:solidFill>
                <a:latin typeface="Aptos"/>
              </a:defRPr>
            </a:pPr>
            <a:r>
              <a:t>Actual Training and Model Comparison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5D6C7E"/>
                </a:solidFill>
                <a:latin typeface="Aptos"/>
              </a:defRPr>
            </a:pPr>
            <a: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101F3A"/>
                </a:solidFill>
                <a:latin typeface="Aptos"/>
              </a:defRPr>
            </a:pPr>
            <a:r>
              <a:t>Training and Validation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53312"/>
            <a:ext cx="53035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1">
                <a:solidFill>
                  <a:srgbClr val="101F3A"/>
                </a:solidFill>
                <a:latin typeface="Aptos"/>
              </a:defRPr>
            </a:pPr>
            <a:r>
              <a:t>Priority Classification: Model Comparison</a:t>
            </a:r>
          </a:p>
        </p:txBody>
      </p:sp>
      <p:pic>
        <p:nvPicPr>
          <p:cNvPr id="9" name="Picture 8" descr="notebook_plo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64208"/>
            <a:ext cx="5532120" cy="4069080"/>
          </a:xfrm>
          <a:prstGeom prst="rect">
            <a:avLst/>
          </a:prstGeom>
        </p:spPr>
      </p:pic>
      <p:pic>
        <p:nvPicPr>
          <p:cNvPr id="10" name="Picture 9" descr="notebook_plot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64208"/>
            <a:ext cx="539496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815584"/>
            <a:ext cx="1069848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00" b="0">
                <a:solidFill>
                  <a:srgbClr val="5D6C7E"/>
                </a:solidFill>
                <a:latin typeface="Aptos"/>
              </a:defRPr>
            </a:pPr>
            <a:r>
              <a:t>The graphs above are inserted directly from the saved notebook outputs.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9A6A0"/>
                </a:solidFill>
                <a:latin typeface="Aptos"/>
              </a:defRPr>
            </a:pPr>
            <a:r>
              <a:t>UAV EMERGENCY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658368" cy="54864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D6C7E"/>
                </a:solidFill>
                <a:latin typeface="Aptos"/>
              </a:defRPr>
            </a:pPr>
            <a:r>
              <a:t>MT-DNN • Software-based machine learning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6858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D6C7E"/>
                </a:solidFill>
                <a:latin typeface="Aptos"/>
              </a:defRPr>
            </a:pPr>
            <a:r>
              <a:t>19 /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303520" cy="3474720"/>
          </a:xfrm>
          <a:prstGeom prst="roundRect">
            <a:avLst/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3474720"/>
          </a:xfrm>
          <a:prstGeom prst="rect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55063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937759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Labels are created using fixed data-based rules.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Actual emergency-message text is not analysed.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Predictions are not connected to a live UAV network.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The baseline comparison shown is for priority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03520" cy="3474720"/>
          </a:xfrm>
          <a:prstGeom prst="roundRect">
            <a:avLst/>
          </a:prstGeom>
          <a:solidFill>
            <a:srgbClr val="E2F6F3"/>
          </a:solidFill>
          <a:ln>
            <a:solidFill>
              <a:srgbClr val="E2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73152" cy="3474720"/>
          </a:xfrm>
          <a:prstGeom prst="rect">
            <a:avLst/>
          </a:prstGeom>
          <a:solidFill>
            <a:srgbClr val="2D8C5E"/>
          </a:solidFill>
          <a:ln>
            <a:solidFill>
              <a:srgbClr val="2D8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3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01F3A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75688"/>
            <a:ext cx="4937759" cy="2816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Test more dataset scenarios.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Improve and validate label rules.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Study performance across more models and metrics.</a:t>
            </a: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222F3E"/>
                </a:solidFill>
                <a:latin typeface="Aptos"/>
              </a:defRPr>
            </a:pPr>
            <a:r>
              <a:t>• Test whether predictions can support resource-allocation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C74D4D"/>
                </a:solidFill>
                <a:latin typeface="Aptos"/>
              </a:defRPr>
            </a:pPr>
            <a:r>
              <a:t>Possible benefits are future goals; they are not yet measured outcomes of this experiment.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1097280"/>
            <a:ext cx="1097280" cy="1097280"/>
          </a:xfrm>
          <a:prstGeom prst="ellipse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2743200"/>
            <a:ext cx="685800" cy="685800"/>
          </a:xfrm>
          <a:prstGeom prst="ellipse">
            <a:avLst/>
          </a:prstGeom>
          <a:solidFill>
            <a:srgbClr val="EBB54C"/>
          </a:solidFill>
          <a:ln>
            <a:solidFill>
              <a:srgbClr val="EBB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4206240"/>
            <a:ext cx="502920" cy="502920"/>
          </a:xfrm>
          <a:prstGeom prst="ellipse">
            <a:avLst/>
          </a:prstGeom>
          <a:solidFill>
            <a:srgbClr val="192E4F"/>
          </a:solidFill>
          <a:ln>
            <a:solidFill>
              <a:srgbClr val="19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0241280" y="1828800"/>
            <a:ext cx="822960" cy="1097280"/>
          </a:xfrm>
          <a:prstGeom prst="line">
            <a:avLst/>
          </a:prstGeom>
          <a:ln w="2540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144000" y="3291840"/>
            <a:ext cx="1737360" cy="1188720"/>
          </a:xfrm>
          <a:prstGeom prst="line">
            <a:avLst/>
          </a:prstGeom>
          <a:ln w="25400">
            <a:solidFill>
              <a:srgbClr val="507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74980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6949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EBB54C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474720"/>
            <a:ext cx="914400" cy="64008"/>
          </a:xfrm>
          <a:prstGeom prst="roundRect">
            <a:avLst/>
          </a:prstGeom>
          <a:solidFill>
            <a:srgbClr val="19A6A0"/>
          </a:solidFill>
          <a:ln>
            <a:solidFill>
              <a:srgbClr val="19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71323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DDCEE"/>
                </a:solidFill>
                <a:latin typeface="Aptos"/>
              </a:defRPr>
            </a:pPr>
            <a:r>
              <a:t>Multi-Task Deep Neural Network for UAV Emergency Communication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72200"/>
            <a:ext cx="7680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B4C5DB"/>
                </a:solidFill>
                <a:latin typeface="Aptos"/>
              </a:defRPr>
            </a:pPr>
            <a:r>
              <a:t>Software-based machine learning experiment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