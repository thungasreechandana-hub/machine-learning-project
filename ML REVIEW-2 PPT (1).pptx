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media/image6.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2191695" cy="6858000"/>
  <p:notesSz cx="6858000" cy="9144000"/>
  <p:embeddedFontLst>
    <p:embeddedFont>
      <p:font typeface="Canva Sans Bold" charset="1" panose="020B0803030501040103"/>
      <p:regular r:id="rId16"/>
    </p:embeddedFont>
    <p:embeddedFont>
      <p:font typeface="Canva Sans" charset="1" panose="020B0503030501040103"/>
      <p:regular r:id="rId17"/>
    </p:embeddedFont>
    <p:embeddedFont>
      <p:font typeface="TAN Tangkiwoo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1097280"/>
            <a:ext cx="201168" cy="201168"/>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0" y="1645920"/>
            <a:ext cx="128016" cy="128016"/>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84080" y="1828800"/>
            <a:ext cx="118872" cy="118872"/>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0" y="2468880"/>
            <a:ext cx="164592" cy="164592"/>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55680" y="2743200"/>
            <a:ext cx="109728" cy="109728"/>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143000"/>
            <a:ext cx="9784080" cy="2011680"/>
          </a:xfrm>
          <a:prstGeom prst="rect">
            <a:avLst/>
          </a:prstGeom>
          <a:noFill/>
        </p:spPr>
        <p:txBody>
          <a:bodyPr wrap="square">
            <a:spAutoFit/>
          </a:bodyPr>
          <a:lstStyle/>
          <a:p>
            <a:pPr>
              <a:spcAft>
                <a:spcPts val="1200"/>
              </a:spcAft>
              <a:defRPr sz="3400" b="1">
                <a:solidFill>
                  <a:srgbClr val="FFFFFF"/>
                </a:solidFill>
                <a:latin typeface="Aptos Display"/>
              </a:defRPr>
            </a:pPr>
            <a:r>
              <a:t>Multi-Task Deep Neural Network for Emergency Message Priority and Semantic-Loss Tolerance Prediction in UAV Networks.</a:t>
            </a:r>
          </a:p>
          <a:p>
            <a:pPr>
              <a:spcAft>
                <a:spcPts val="400"/>
              </a:spcAft>
            </a:pPr>
          </a:p>
        </p:txBody>
      </p:sp>
      <p:sp>
        <p:nvSpPr>
          <p:cNvPr id="9" name="TextBox 8"/>
          <p:cNvSpPr txBox="1"/>
          <p:nvPr/>
        </p:nvSpPr>
        <p:spPr>
          <a:xfrm>
            <a:off x="713232" y="3657600"/>
            <a:ext cx="5303520" cy="457200"/>
          </a:xfrm>
          <a:prstGeom prst="rect">
            <a:avLst/>
          </a:prstGeom>
          <a:noFill/>
        </p:spPr>
        <p:txBody>
          <a:bodyPr wrap="none">
            <a:spAutoFit/>
          </a:bodyPr>
          <a:lstStyle/>
          <a:p>
            <a:pPr>
              <a:defRPr sz="1600" b="1">
                <a:solidFill>
                  <a:srgbClr val="30A8BE"/>
                </a:solidFill>
                <a:latin typeface="Aptos"/>
              </a:defRPr>
            </a:pPr>
            <a:r>
              <a:t>Team Members</a:t>
            </a:r>
          </a:p>
        </p:txBody>
      </p:sp>
      <p:sp>
        <p:nvSpPr>
          <p:cNvPr id="10" name="TextBox 9"/>
          <p:cNvSpPr txBox="1"/>
          <p:nvPr/>
        </p:nvSpPr>
        <p:spPr>
          <a:xfrm>
            <a:off x="749808" y="4160520"/>
            <a:ext cx="5943600" cy="365760"/>
          </a:xfrm>
          <a:prstGeom prst="rect">
            <a:avLst/>
          </a:prstGeom>
          <a:noFill/>
        </p:spPr>
        <p:txBody>
          <a:bodyPr wrap="none">
            <a:spAutoFit/>
          </a:bodyPr>
          <a:lstStyle/>
          <a:p>
            <a:pPr>
              <a:defRPr sz="1500">
                <a:solidFill>
                  <a:srgbClr val="FFFFFF"/>
                </a:solidFill>
                <a:latin typeface="Aptos"/>
              </a:defRPr>
            </a:pPr>
            <a:r>
              <a:t>2520040030-T.Sree Chandana</a:t>
            </a:r>
          </a:p>
        </p:txBody>
      </p:sp>
      <p:sp>
        <p:nvSpPr>
          <p:cNvPr id="11" name="TextBox 10"/>
          <p:cNvSpPr txBox="1"/>
          <p:nvPr/>
        </p:nvSpPr>
        <p:spPr>
          <a:xfrm>
            <a:off x="749808" y="4663440"/>
            <a:ext cx="5943600" cy="365760"/>
          </a:xfrm>
          <a:prstGeom prst="rect">
            <a:avLst/>
          </a:prstGeom>
          <a:noFill/>
        </p:spPr>
        <p:txBody>
          <a:bodyPr wrap="none">
            <a:spAutoFit/>
          </a:bodyPr>
          <a:lstStyle/>
          <a:p>
            <a:pPr>
              <a:defRPr sz="1500">
                <a:solidFill>
                  <a:srgbClr val="FFFFFF"/>
                </a:solidFill>
                <a:latin typeface="Aptos"/>
              </a:defRPr>
            </a:pPr>
            <a:r>
              <a:t>2520040119-R.Sameera</a:t>
            </a:r>
          </a:p>
        </p:txBody>
      </p:sp>
      <p:sp>
        <p:nvSpPr>
          <p:cNvPr id="12" name="TextBox 11"/>
          <p:cNvSpPr txBox="1"/>
          <p:nvPr/>
        </p:nvSpPr>
        <p:spPr>
          <a:xfrm>
            <a:off x="749808" y="5166360"/>
            <a:ext cx="5943600" cy="365760"/>
          </a:xfrm>
          <a:prstGeom prst="rect">
            <a:avLst/>
          </a:prstGeom>
          <a:noFill/>
        </p:spPr>
        <p:txBody>
          <a:bodyPr wrap="none">
            <a:spAutoFit/>
          </a:bodyPr>
          <a:lstStyle/>
          <a:p>
            <a:pPr>
              <a:defRPr sz="1500">
                <a:solidFill>
                  <a:srgbClr val="FFFFFF"/>
                </a:solidFill>
                <a:latin typeface="Aptos"/>
              </a:defRPr>
            </a:pPr>
            <a:r>
              <a:t>2520040037-K.Joshita</a:t>
            </a:r>
          </a:p>
        </p:txBody>
      </p:sp>
      <p:sp>
        <p:nvSpPr>
          <p:cNvPr id="13" name="Rectangle 12"/>
          <p:cNvSpPr/>
          <p:nvPr/>
        </p:nvSpPr>
        <p:spPr>
          <a:xfrm>
            <a:off x="502920" y="6565392"/>
            <a:ext cx="11155680" cy="13716"/>
          </a:xfrm>
          <a:prstGeom prst="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0515600" cy="384048"/>
          </a:xfrm>
          <a:prstGeom prst="rect">
            <a:avLst/>
          </a:prstGeom>
          <a:noFill/>
        </p:spPr>
        <p:txBody>
          <a:bodyPr wrap="none">
            <a:spAutoFit/>
          </a:bodyPr>
          <a:lstStyle/>
          <a:p>
            <a:pPr>
              <a:defRPr sz="2500" b="1">
                <a:solidFill>
                  <a:srgbClr val="FFFFFF"/>
                </a:solidFill>
                <a:latin typeface="Aptos Display"/>
              </a:defRPr>
            </a:pPr>
            <a:r>
              <a:t>Problem Statement</a:t>
            </a:r>
          </a:p>
        </p:txBody>
      </p:sp>
      <p:sp>
        <p:nvSpPr>
          <p:cNvPr id="5" name="TextBox 4"/>
          <p:cNvSpPr txBox="1"/>
          <p:nvPr/>
        </p:nvSpPr>
        <p:spPr>
          <a:xfrm>
            <a:off x="11292840" y="146304"/>
            <a:ext cx="457200" cy="274320"/>
          </a:xfrm>
          <a:prstGeom prst="rect">
            <a:avLst/>
          </a:prstGeom>
          <a:noFill/>
        </p:spPr>
        <p:txBody>
          <a:bodyPr wrap="none">
            <a:spAutoFit/>
          </a:bodyPr>
          <a:lstStyle/>
          <a:p>
            <a:pPr algn="r">
              <a:defRPr sz="1200" b="1">
                <a:solidFill>
                  <a:srgbClr val="BED7EB"/>
                </a:solidFill>
                <a:latin typeface="Aptos"/>
              </a:defRPr>
            </a:pPr>
            <a:r>
              <a:t>2</a:t>
            </a:r>
          </a:p>
        </p:txBody>
      </p:sp>
      <p:sp>
        <p:nvSpPr>
          <p:cNvPr id="6" name="Rectangle 5"/>
          <p:cNvSpPr/>
          <p:nvPr/>
        </p:nvSpPr>
        <p:spPr>
          <a:xfrm>
            <a:off x="502920" y="6565392"/>
            <a:ext cx="11155680" cy="13716"/>
          </a:xfrm>
          <a:prstGeom prst="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
        <p:nvSpPr>
          <p:cNvPr id="8" name="Rounded Rectangle 7"/>
          <p:cNvSpPr/>
          <p:nvPr/>
        </p:nvSpPr>
        <p:spPr>
          <a:xfrm>
            <a:off x="640080" y="1143000"/>
            <a:ext cx="10881360" cy="214884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10332720" cy="1737360"/>
          </a:xfrm>
          <a:prstGeom prst="rect">
            <a:avLst/>
          </a:prstGeom>
          <a:noFill/>
        </p:spPr>
        <p:txBody>
          <a:bodyPr wrap="square">
            <a:spAutoFit/>
          </a:bodyPr>
          <a:lstStyle/>
          <a:p>
            <a:pPr>
              <a:lnSpc>
                <a:spcPct val="115000"/>
              </a:lnSpc>
              <a:defRPr sz="1800">
                <a:solidFill>
                  <a:srgbClr val="232D3A"/>
                </a:solidFill>
                <a:latin typeface="Aptos"/>
              </a:defRPr>
            </a:pPr>
            <a:r>
              <a:t>UAV networks used in emergency and disaster situations face challenges such as limited bandwidth, network congestion, packet loss, and unstable connectivity. Since emergency messages have different levels of importance and different abilities to tolerate information loss, treating all messages equally can lead to inefficient communication.</a:t>
            </a:r>
          </a:p>
        </p:txBody>
      </p:sp>
      <p:sp>
        <p:nvSpPr>
          <p:cNvPr id="10" name="Rounded Rectangle 9"/>
          <p:cNvSpPr/>
          <p:nvPr/>
        </p:nvSpPr>
        <p:spPr>
          <a:xfrm>
            <a:off x="640080" y="3566160"/>
            <a:ext cx="10881360" cy="16002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94760"/>
            <a:ext cx="10332720" cy="1737360"/>
          </a:xfrm>
          <a:prstGeom prst="rect">
            <a:avLst/>
          </a:prstGeom>
          <a:noFill/>
        </p:spPr>
        <p:txBody>
          <a:bodyPr wrap="square">
            <a:spAutoFit/>
          </a:bodyPr>
          <a:lstStyle/>
          <a:p>
            <a:pPr>
              <a:lnSpc>
                <a:spcPct val="115000"/>
              </a:lnSpc>
              <a:defRPr sz="1700">
                <a:solidFill>
                  <a:srgbClr val="232D3A"/>
                </a:solidFill>
                <a:latin typeface="Aptos"/>
              </a:defRPr>
            </a:pPr>
            <a:r>
              <a:t>Therefore, there is a need for a system that can simultaneously determine the priority of an emergency message and its semantic-loss tolerance to support efficient and reliable communication in resource-constrained UAV networks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0515600" cy="365760"/>
          </a:xfrm>
          <a:prstGeom prst="rect">
            <a:avLst/>
          </a:prstGeom>
          <a:noFill/>
        </p:spPr>
        <p:txBody>
          <a:bodyPr wrap="none">
            <a:spAutoFit/>
          </a:bodyPr>
          <a:lstStyle/>
          <a:p>
            <a:pPr>
              <a:defRPr sz="2500" b="1">
                <a:solidFill>
                  <a:srgbClr val="FFFFFF"/>
                </a:solidFill>
                <a:latin typeface="Aptos Display"/>
              </a:defRPr>
            </a:pPr>
            <a:r>
              <a:t>Objectives</a:t>
            </a:r>
          </a:p>
        </p:txBody>
      </p:sp>
      <p:sp>
        <p:nvSpPr>
          <p:cNvPr id="5" name="TextBox 4"/>
          <p:cNvSpPr txBox="1"/>
          <p:nvPr/>
        </p:nvSpPr>
        <p:spPr>
          <a:xfrm>
            <a:off x="11292840" y="146304"/>
            <a:ext cx="411480" cy="274320"/>
          </a:xfrm>
          <a:prstGeom prst="rect">
            <a:avLst/>
          </a:prstGeom>
          <a:noFill/>
        </p:spPr>
        <p:txBody>
          <a:bodyPr wrap="none">
            <a:spAutoFit/>
          </a:bodyPr>
          <a:lstStyle/>
          <a:p>
            <a:pPr algn="r">
              <a:defRPr sz="1200" b="1">
                <a:solidFill>
                  <a:srgbClr val="BED7EB"/>
                </a:solidFill>
                <a:latin typeface="Aptos"/>
              </a:defRPr>
            </a:pPr>
            <a:r>
              <a:t>3</a:t>
            </a:r>
          </a:p>
        </p:txBody>
      </p:sp>
      <p:sp>
        <p:nvSpPr>
          <p:cNvPr id="6" name="Rectangle 5"/>
          <p:cNvSpPr/>
          <p:nvPr/>
        </p:nvSpPr>
        <p:spPr>
          <a:xfrm>
            <a:off x="502920" y="6565392"/>
            <a:ext cx="11155680" cy="13716"/>
          </a:xfrm>
          <a:prstGeom prst="rect">
            <a:avLst/>
          </a:prstGeom>
          <a:solidFill>
            <a:srgbClr val="DCE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
        <p:nvSpPr>
          <p:cNvPr id="8" name="Rounded Rectangle 7"/>
          <p:cNvSpPr/>
          <p:nvPr/>
        </p:nvSpPr>
        <p:spPr>
          <a:xfrm>
            <a:off x="777240" y="1078992"/>
            <a:ext cx="10652760" cy="749808"/>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078992"/>
            <a:ext cx="73152" cy="749808"/>
          </a:xfrm>
          <a:prstGeom prst="rect">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87552" y="1225295"/>
            <a:ext cx="438912" cy="438912"/>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1</a:t>
            </a:r>
          </a:p>
        </p:txBody>
      </p:sp>
      <p:sp>
        <p:nvSpPr>
          <p:cNvPr id="11" name="TextBox 10"/>
          <p:cNvSpPr txBox="1"/>
          <p:nvPr/>
        </p:nvSpPr>
        <p:spPr>
          <a:xfrm>
            <a:off x="1627632" y="1207007"/>
            <a:ext cx="9372600" cy="502920"/>
          </a:xfrm>
          <a:prstGeom prst="rect">
            <a:avLst/>
          </a:prstGeom>
          <a:noFill/>
        </p:spPr>
        <p:txBody>
          <a:bodyPr wrap="none">
            <a:spAutoFit/>
          </a:bodyPr>
          <a:lstStyle/>
          <a:p>
            <a:pPr>
              <a:defRPr sz="1700">
                <a:solidFill>
                  <a:srgbClr val="232D3A"/>
                </a:solidFill>
                <a:latin typeface="Aptos"/>
              </a:defRPr>
            </a:pPr>
            <a:r>
              <a:t>Classify emergency messages into Low, Medium, and High priority.</a:t>
            </a:r>
          </a:p>
        </p:txBody>
      </p:sp>
      <p:sp>
        <p:nvSpPr>
          <p:cNvPr id="12" name="Rounded Rectangle 11"/>
          <p:cNvSpPr/>
          <p:nvPr/>
        </p:nvSpPr>
        <p:spPr>
          <a:xfrm>
            <a:off x="777240" y="2066543"/>
            <a:ext cx="10652760" cy="749808"/>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066543"/>
            <a:ext cx="73152" cy="749808"/>
          </a:xfrm>
          <a:prstGeom prst="rect">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7552" y="2212848"/>
            <a:ext cx="438912" cy="438912"/>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2</a:t>
            </a:r>
          </a:p>
        </p:txBody>
      </p:sp>
      <p:sp>
        <p:nvSpPr>
          <p:cNvPr id="15" name="TextBox 14"/>
          <p:cNvSpPr txBox="1"/>
          <p:nvPr/>
        </p:nvSpPr>
        <p:spPr>
          <a:xfrm>
            <a:off x="1627632" y="2194560"/>
            <a:ext cx="9372600" cy="502920"/>
          </a:xfrm>
          <a:prstGeom prst="rect">
            <a:avLst/>
          </a:prstGeom>
          <a:noFill/>
        </p:spPr>
        <p:txBody>
          <a:bodyPr wrap="none">
            <a:spAutoFit/>
          </a:bodyPr>
          <a:lstStyle/>
          <a:p>
            <a:pPr>
              <a:defRPr sz="1700">
                <a:solidFill>
                  <a:srgbClr val="232D3A"/>
                </a:solidFill>
                <a:latin typeface="Aptos"/>
              </a:defRPr>
            </a:pPr>
            <a:r>
              <a:t>Classify semantic-loss tolerance as Low or High.</a:t>
            </a:r>
          </a:p>
        </p:txBody>
      </p:sp>
      <p:sp>
        <p:nvSpPr>
          <p:cNvPr id="16" name="Rounded Rectangle 15"/>
          <p:cNvSpPr/>
          <p:nvPr/>
        </p:nvSpPr>
        <p:spPr>
          <a:xfrm>
            <a:off x="777240" y="3054096"/>
            <a:ext cx="10652760" cy="749808"/>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054096"/>
            <a:ext cx="73152" cy="749808"/>
          </a:xfrm>
          <a:prstGeom prst="rect">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3200400"/>
            <a:ext cx="438912" cy="438912"/>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3</a:t>
            </a:r>
          </a:p>
        </p:txBody>
      </p:sp>
      <p:sp>
        <p:nvSpPr>
          <p:cNvPr id="19" name="TextBox 18"/>
          <p:cNvSpPr txBox="1"/>
          <p:nvPr/>
        </p:nvSpPr>
        <p:spPr>
          <a:xfrm>
            <a:off x="1627632" y="3182112"/>
            <a:ext cx="9372600" cy="502920"/>
          </a:xfrm>
          <a:prstGeom prst="rect">
            <a:avLst/>
          </a:prstGeom>
          <a:noFill/>
        </p:spPr>
        <p:txBody>
          <a:bodyPr wrap="none">
            <a:spAutoFit/>
          </a:bodyPr>
          <a:lstStyle/>
          <a:p>
            <a:pPr>
              <a:defRPr sz="1700">
                <a:solidFill>
                  <a:srgbClr val="232D3A"/>
                </a:solidFill>
                <a:latin typeface="Aptos"/>
              </a:defRPr>
            </a:pPr>
            <a:r>
              <a:t>Learn common patterns using a single multi-task model.</a:t>
            </a:r>
          </a:p>
        </p:txBody>
      </p:sp>
      <p:sp>
        <p:nvSpPr>
          <p:cNvPr id="20" name="Rounded Rectangle 19"/>
          <p:cNvSpPr/>
          <p:nvPr/>
        </p:nvSpPr>
        <p:spPr>
          <a:xfrm>
            <a:off x="777240" y="4041648"/>
            <a:ext cx="10652760" cy="749808"/>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41648"/>
            <a:ext cx="73152" cy="749808"/>
          </a:xfrm>
          <a:prstGeom prst="rect">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87552" y="4187952"/>
            <a:ext cx="438912" cy="438912"/>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4</a:t>
            </a:r>
          </a:p>
        </p:txBody>
      </p:sp>
      <p:sp>
        <p:nvSpPr>
          <p:cNvPr id="23" name="TextBox 22"/>
          <p:cNvSpPr txBox="1"/>
          <p:nvPr/>
        </p:nvSpPr>
        <p:spPr>
          <a:xfrm>
            <a:off x="1627632" y="4169663"/>
            <a:ext cx="9372600" cy="502920"/>
          </a:xfrm>
          <a:prstGeom prst="rect">
            <a:avLst/>
          </a:prstGeom>
          <a:noFill/>
        </p:spPr>
        <p:txBody>
          <a:bodyPr wrap="none">
            <a:spAutoFit/>
          </a:bodyPr>
          <a:lstStyle/>
          <a:p>
            <a:pPr>
              <a:defRPr sz="1700">
                <a:solidFill>
                  <a:srgbClr val="232D3A"/>
                </a:solidFill>
                <a:latin typeface="Aptos"/>
              </a:defRPr>
            </a:pPr>
            <a:r>
              <a:t>Support efficient utilization of limited UAV communication resources.</a:t>
            </a:r>
          </a:p>
        </p:txBody>
      </p:sp>
      <p:sp>
        <p:nvSpPr>
          <p:cNvPr id="24" name="Rounded Rectangle 23"/>
          <p:cNvSpPr/>
          <p:nvPr/>
        </p:nvSpPr>
        <p:spPr>
          <a:xfrm>
            <a:off x="777240" y="5029200"/>
            <a:ext cx="10652760" cy="749808"/>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029200"/>
            <a:ext cx="73152" cy="749808"/>
          </a:xfrm>
          <a:prstGeom prst="rect">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87552" y="5175504"/>
            <a:ext cx="438912" cy="438912"/>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5</a:t>
            </a:r>
          </a:p>
        </p:txBody>
      </p:sp>
      <p:sp>
        <p:nvSpPr>
          <p:cNvPr id="27" name="TextBox 26"/>
          <p:cNvSpPr txBox="1"/>
          <p:nvPr/>
        </p:nvSpPr>
        <p:spPr>
          <a:xfrm>
            <a:off x="1627632" y="5157216"/>
            <a:ext cx="9372600" cy="502920"/>
          </a:xfrm>
          <a:prstGeom prst="rect">
            <a:avLst/>
          </a:prstGeom>
          <a:noFill/>
        </p:spPr>
        <p:txBody>
          <a:bodyPr wrap="none">
            <a:spAutoFit/>
          </a:bodyPr>
          <a:lstStyle/>
          <a:p>
            <a:pPr>
              <a:defRPr sz="1700">
                <a:solidFill>
                  <a:srgbClr val="232D3A"/>
                </a:solidFill>
                <a:latin typeface="Aptos"/>
              </a:defRPr>
            </a:pPr>
            <a:r>
              <a:t>Reduce unnecessary transmission and communication delays.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0515600" cy="384048"/>
          </a:xfrm>
          <a:prstGeom prst="rect">
            <a:avLst/>
          </a:prstGeom>
          <a:noFill/>
        </p:spPr>
        <p:txBody>
          <a:bodyPr wrap="none">
            <a:spAutoFit/>
          </a:bodyPr>
          <a:lstStyle/>
          <a:p>
            <a:pPr>
              <a:defRPr sz="2500" b="1">
                <a:solidFill>
                  <a:srgbClr val="FFFFFF"/>
                </a:solidFill>
                <a:latin typeface="Aptos Display"/>
              </a:defRPr>
            </a:pPr>
            <a:r>
              <a:t>Proposed Methodology</a:t>
            </a:r>
          </a:p>
        </p:txBody>
      </p:sp>
      <p:sp>
        <p:nvSpPr>
          <p:cNvPr id="5" name="TextBox 4"/>
          <p:cNvSpPr txBox="1"/>
          <p:nvPr/>
        </p:nvSpPr>
        <p:spPr>
          <a:xfrm>
            <a:off x="11292840" y="146304"/>
            <a:ext cx="457200" cy="274320"/>
          </a:xfrm>
          <a:prstGeom prst="rect">
            <a:avLst/>
          </a:prstGeom>
          <a:noFill/>
        </p:spPr>
        <p:txBody>
          <a:bodyPr wrap="none">
            <a:spAutoFit/>
          </a:bodyPr>
          <a:lstStyle/>
          <a:p>
            <a:pPr algn="r">
              <a:defRPr sz="1200" b="1">
                <a:solidFill>
                  <a:srgbClr val="BED7EB"/>
                </a:solidFill>
                <a:latin typeface="Aptos"/>
              </a:defRPr>
            </a:pPr>
            <a:r>
              <a:t>4</a:t>
            </a:r>
          </a:p>
        </p:txBody>
      </p:sp>
      <p:sp>
        <p:nvSpPr>
          <p:cNvPr id="6" name="Rectangle 5"/>
          <p:cNvSpPr/>
          <p:nvPr/>
        </p:nvSpPr>
        <p:spPr>
          <a:xfrm>
            <a:off x="502920" y="6565392"/>
            <a:ext cx="11155680" cy="13716"/>
          </a:xfrm>
          <a:prstGeom prst="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
        <p:nvSpPr>
          <p:cNvPr id="8" name="Rounded Rectangle 7"/>
          <p:cNvSpPr/>
          <p:nvPr/>
        </p:nvSpPr>
        <p:spPr>
          <a:xfrm>
            <a:off x="731520" y="932688"/>
            <a:ext cx="10744200" cy="5943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005840"/>
            <a:ext cx="10287000" cy="411480"/>
          </a:xfrm>
          <a:prstGeom prst="rect">
            <a:avLst/>
          </a:prstGeom>
          <a:noFill/>
        </p:spPr>
        <p:txBody>
          <a:bodyPr wrap="none">
            <a:spAutoFit/>
          </a:bodyPr>
          <a:lstStyle/>
          <a:p>
            <a:pPr>
              <a:defRPr sz="1450">
                <a:solidFill>
                  <a:srgbClr val="232D3A"/>
                </a:solidFill>
                <a:latin typeface="Aptos"/>
              </a:defRPr>
            </a:pPr>
            <a:r>
              <a:t>Input: Emergency message and network-related features</a:t>
            </a:r>
          </a:p>
        </p:txBody>
      </p:sp>
      <p:sp>
        <p:nvSpPr>
          <p:cNvPr id="10" name="Rounded Rectangle 9"/>
          <p:cNvSpPr/>
          <p:nvPr/>
        </p:nvSpPr>
        <p:spPr>
          <a:xfrm>
            <a:off x="731520" y="1691640"/>
            <a:ext cx="10744200" cy="5943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64792"/>
            <a:ext cx="10287000" cy="411480"/>
          </a:xfrm>
          <a:prstGeom prst="rect">
            <a:avLst/>
          </a:prstGeom>
          <a:noFill/>
        </p:spPr>
        <p:txBody>
          <a:bodyPr wrap="none">
            <a:spAutoFit/>
          </a:bodyPr>
          <a:lstStyle/>
          <a:p>
            <a:pPr>
              <a:defRPr sz="1450">
                <a:solidFill>
                  <a:srgbClr val="232D3A"/>
                </a:solidFill>
                <a:latin typeface="Aptos"/>
              </a:defRPr>
            </a:pPr>
            <a:r>
              <a:t>Preprocessing: Prepare and process the input features</a:t>
            </a:r>
          </a:p>
        </p:txBody>
      </p:sp>
      <p:sp>
        <p:nvSpPr>
          <p:cNvPr id="12" name="Rounded Rectangle 11"/>
          <p:cNvSpPr/>
          <p:nvPr/>
        </p:nvSpPr>
        <p:spPr>
          <a:xfrm>
            <a:off x="731520" y="2450591"/>
            <a:ext cx="10744200" cy="5943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23744"/>
            <a:ext cx="10287000" cy="411480"/>
          </a:xfrm>
          <a:prstGeom prst="rect">
            <a:avLst/>
          </a:prstGeom>
          <a:noFill/>
        </p:spPr>
        <p:txBody>
          <a:bodyPr wrap="none">
            <a:spAutoFit/>
          </a:bodyPr>
          <a:lstStyle/>
          <a:p>
            <a:pPr>
              <a:defRPr sz="1450">
                <a:solidFill>
                  <a:srgbClr val="232D3A"/>
                </a:solidFill>
                <a:latin typeface="Aptos"/>
              </a:defRPr>
            </a:pPr>
            <a:r>
              <a:t>Shared Neural Network Layers: Learn common patterns from the input data</a:t>
            </a:r>
          </a:p>
        </p:txBody>
      </p:sp>
      <p:sp>
        <p:nvSpPr>
          <p:cNvPr id="14" name="Rounded Rectangle 13"/>
          <p:cNvSpPr/>
          <p:nvPr/>
        </p:nvSpPr>
        <p:spPr>
          <a:xfrm>
            <a:off x="731520" y="3209544"/>
            <a:ext cx="10744200" cy="5943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282696"/>
            <a:ext cx="10287000" cy="411480"/>
          </a:xfrm>
          <a:prstGeom prst="rect">
            <a:avLst/>
          </a:prstGeom>
          <a:noFill/>
        </p:spPr>
        <p:txBody>
          <a:bodyPr wrap="none">
            <a:spAutoFit/>
          </a:bodyPr>
          <a:lstStyle/>
          <a:p>
            <a:pPr>
              <a:defRPr sz="1450">
                <a:solidFill>
                  <a:srgbClr val="232D3A"/>
                </a:solidFill>
                <a:latin typeface="Aptos"/>
              </a:defRPr>
            </a:pPr>
            <a:r>
              <a:t>Task 1 – Message Priority Classification: Classifies messages as Low, Medium, or High</a:t>
            </a:r>
          </a:p>
        </p:txBody>
      </p:sp>
      <p:sp>
        <p:nvSpPr>
          <p:cNvPr id="16" name="Rounded Rectangle 15"/>
          <p:cNvSpPr/>
          <p:nvPr/>
        </p:nvSpPr>
        <p:spPr>
          <a:xfrm>
            <a:off x="731520" y="3968496"/>
            <a:ext cx="10744200" cy="5943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041648"/>
            <a:ext cx="10287000" cy="411480"/>
          </a:xfrm>
          <a:prstGeom prst="rect">
            <a:avLst/>
          </a:prstGeom>
          <a:noFill/>
        </p:spPr>
        <p:txBody>
          <a:bodyPr wrap="none">
            <a:spAutoFit/>
          </a:bodyPr>
          <a:lstStyle/>
          <a:p>
            <a:pPr>
              <a:defRPr sz="1450">
                <a:solidFill>
                  <a:srgbClr val="232D3A"/>
                </a:solidFill>
                <a:latin typeface="Aptos"/>
              </a:defRPr>
            </a:pPr>
            <a:r>
              <a:t>Task 2 – Semantic-Loss Tolerance Classification: Classifies messages as Low or High tolerance</a:t>
            </a:r>
          </a:p>
        </p:txBody>
      </p:sp>
      <p:sp>
        <p:nvSpPr>
          <p:cNvPr id="18" name="Rounded Rectangle 17"/>
          <p:cNvSpPr/>
          <p:nvPr/>
        </p:nvSpPr>
        <p:spPr>
          <a:xfrm>
            <a:off x="731520" y="4727448"/>
            <a:ext cx="10744200" cy="59436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800600"/>
            <a:ext cx="10287000" cy="411480"/>
          </a:xfrm>
          <a:prstGeom prst="rect">
            <a:avLst/>
          </a:prstGeom>
          <a:noFill/>
        </p:spPr>
        <p:txBody>
          <a:bodyPr wrap="none">
            <a:spAutoFit/>
          </a:bodyPr>
          <a:lstStyle/>
          <a:p>
            <a:pPr>
              <a:defRPr sz="1450">
                <a:solidFill>
                  <a:srgbClr val="232D3A"/>
                </a:solidFill>
                <a:latin typeface="Aptos"/>
              </a:defRPr>
            </a:pPr>
            <a:r>
              <a:t>Output: Both predictions are generated simultaneously using a single Multi-Task Deep Neural Network (MT-DNN)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0515600" cy="384048"/>
          </a:xfrm>
          <a:prstGeom prst="rect">
            <a:avLst/>
          </a:prstGeom>
          <a:noFill/>
        </p:spPr>
        <p:txBody>
          <a:bodyPr wrap="none">
            <a:spAutoFit/>
          </a:bodyPr>
          <a:lstStyle/>
          <a:p>
            <a:pPr>
              <a:defRPr sz="2500" b="1">
                <a:solidFill>
                  <a:srgbClr val="FFFFFF"/>
                </a:solidFill>
                <a:latin typeface="Aptos Display"/>
              </a:defRPr>
            </a:pPr>
            <a:r>
              <a:t>Project Workflow / Implementation</a:t>
            </a:r>
          </a:p>
        </p:txBody>
      </p:sp>
      <p:sp>
        <p:nvSpPr>
          <p:cNvPr id="5" name="TextBox 4"/>
          <p:cNvSpPr txBox="1"/>
          <p:nvPr/>
        </p:nvSpPr>
        <p:spPr>
          <a:xfrm>
            <a:off x="11292840" y="146304"/>
            <a:ext cx="457200" cy="274320"/>
          </a:xfrm>
          <a:prstGeom prst="rect">
            <a:avLst/>
          </a:prstGeom>
          <a:noFill/>
        </p:spPr>
        <p:txBody>
          <a:bodyPr wrap="none">
            <a:spAutoFit/>
          </a:bodyPr>
          <a:lstStyle/>
          <a:p>
            <a:pPr algn="r">
              <a:defRPr sz="1200" b="1">
                <a:solidFill>
                  <a:srgbClr val="BED7EB"/>
                </a:solidFill>
                <a:latin typeface="Aptos"/>
              </a:defRPr>
            </a:pPr>
            <a:r>
              <a:t>5</a:t>
            </a:r>
          </a:p>
        </p:txBody>
      </p:sp>
      <p:sp>
        <p:nvSpPr>
          <p:cNvPr id="6" name="Rectangle 5"/>
          <p:cNvSpPr/>
          <p:nvPr/>
        </p:nvSpPr>
        <p:spPr>
          <a:xfrm>
            <a:off x="502920" y="6565392"/>
            <a:ext cx="11155680" cy="13716"/>
          </a:xfrm>
          <a:prstGeom prst="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
        <p:nvSpPr>
          <p:cNvPr id="8" name="Rounded Rectangle 7"/>
          <p:cNvSpPr/>
          <p:nvPr/>
        </p:nvSpPr>
        <p:spPr>
          <a:xfrm>
            <a:off x="685800" y="1097280"/>
            <a:ext cx="5303520" cy="9144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261872"/>
            <a:ext cx="4800600" cy="594360"/>
          </a:xfrm>
          <a:prstGeom prst="rect">
            <a:avLst/>
          </a:prstGeom>
          <a:noFill/>
        </p:spPr>
        <p:txBody>
          <a:bodyPr wrap="none">
            <a:spAutoFit/>
          </a:bodyPr>
          <a:lstStyle/>
          <a:p>
            <a:pPr>
              <a:defRPr sz="1500">
                <a:solidFill>
                  <a:srgbClr val="232D3A"/>
                </a:solidFill>
                <a:latin typeface="Aptos"/>
              </a:defRPr>
            </a:pPr>
            <a:r>
              <a:t>Collect message and network-related data</a:t>
            </a:r>
          </a:p>
        </p:txBody>
      </p:sp>
      <p:sp>
        <p:nvSpPr>
          <p:cNvPr id="10" name="Rounded Rectangle 9"/>
          <p:cNvSpPr/>
          <p:nvPr/>
        </p:nvSpPr>
        <p:spPr>
          <a:xfrm>
            <a:off x="685800" y="2240280"/>
            <a:ext cx="5303520" cy="9144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404872"/>
            <a:ext cx="4800600" cy="594360"/>
          </a:xfrm>
          <a:prstGeom prst="rect">
            <a:avLst/>
          </a:prstGeom>
          <a:noFill/>
        </p:spPr>
        <p:txBody>
          <a:bodyPr wrap="none">
            <a:spAutoFit/>
          </a:bodyPr>
          <a:lstStyle/>
          <a:p>
            <a:pPr>
              <a:defRPr sz="1500">
                <a:solidFill>
                  <a:srgbClr val="232D3A"/>
                </a:solidFill>
                <a:latin typeface="Aptos"/>
              </a:defRPr>
            </a:pPr>
            <a:r>
              <a:t>Preprocess the data</a:t>
            </a:r>
          </a:p>
        </p:txBody>
      </p:sp>
      <p:sp>
        <p:nvSpPr>
          <p:cNvPr id="12" name="Rounded Rectangle 11"/>
          <p:cNvSpPr/>
          <p:nvPr/>
        </p:nvSpPr>
        <p:spPr>
          <a:xfrm>
            <a:off x="685800" y="3383280"/>
            <a:ext cx="5303520" cy="9144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3547872"/>
            <a:ext cx="4800600" cy="594360"/>
          </a:xfrm>
          <a:prstGeom prst="rect">
            <a:avLst/>
          </a:prstGeom>
          <a:noFill/>
        </p:spPr>
        <p:txBody>
          <a:bodyPr wrap="none">
            <a:spAutoFit/>
          </a:bodyPr>
          <a:lstStyle/>
          <a:p>
            <a:pPr>
              <a:defRPr sz="1500">
                <a:solidFill>
                  <a:srgbClr val="232D3A"/>
                </a:solidFill>
                <a:latin typeface="Aptos"/>
              </a:defRPr>
            </a:pPr>
            <a:r>
              <a:t>Extract/prepare relevant features</a:t>
            </a:r>
          </a:p>
        </p:txBody>
      </p:sp>
      <p:sp>
        <p:nvSpPr>
          <p:cNvPr id="14" name="Rounded Rectangle 13"/>
          <p:cNvSpPr/>
          <p:nvPr/>
        </p:nvSpPr>
        <p:spPr>
          <a:xfrm>
            <a:off x="685800" y="4526280"/>
            <a:ext cx="5303520" cy="9144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690872"/>
            <a:ext cx="4800600" cy="594360"/>
          </a:xfrm>
          <a:prstGeom prst="rect">
            <a:avLst/>
          </a:prstGeom>
          <a:noFill/>
        </p:spPr>
        <p:txBody>
          <a:bodyPr wrap="none">
            <a:spAutoFit/>
          </a:bodyPr>
          <a:lstStyle/>
          <a:p>
            <a:pPr>
              <a:defRPr sz="1500">
                <a:solidFill>
                  <a:srgbClr val="232D3A"/>
                </a:solidFill>
                <a:latin typeface="Aptos"/>
              </a:defRPr>
            </a:pPr>
            <a:r>
              <a:t>Divide data into training/testing sets</a:t>
            </a:r>
          </a:p>
        </p:txBody>
      </p:sp>
      <p:sp>
        <p:nvSpPr>
          <p:cNvPr id="16" name="Rounded Rectangle 15"/>
          <p:cNvSpPr/>
          <p:nvPr/>
        </p:nvSpPr>
        <p:spPr>
          <a:xfrm>
            <a:off x="6172200" y="1097280"/>
            <a:ext cx="5303520" cy="9144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1261872"/>
            <a:ext cx="4800600" cy="594360"/>
          </a:xfrm>
          <a:prstGeom prst="rect">
            <a:avLst/>
          </a:prstGeom>
          <a:noFill/>
        </p:spPr>
        <p:txBody>
          <a:bodyPr wrap="none">
            <a:spAutoFit/>
          </a:bodyPr>
          <a:lstStyle/>
          <a:p>
            <a:pPr>
              <a:defRPr sz="1500">
                <a:solidFill>
                  <a:srgbClr val="232D3A"/>
                </a:solidFill>
                <a:latin typeface="Aptos"/>
              </a:defRPr>
            </a:pPr>
            <a:r>
              <a:t>Train the MT-DNN</a:t>
            </a:r>
          </a:p>
        </p:txBody>
      </p:sp>
      <p:sp>
        <p:nvSpPr>
          <p:cNvPr id="18" name="Rounded Rectangle 17"/>
          <p:cNvSpPr/>
          <p:nvPr/>
        </p:nvSpPr>
        <p:spPr>
          <a:xfrm>
            <a:off x="6172200" y="2240280"/>
            <a:ext cx="5303520" cy="9144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2" y="2404872"/>
            <a:ext cx="4800600" cy="594360"/>
          </a:xfrm>
          <a:prstGeom prst="rect">
            <a:avLst/>
          </a:prstGeom>
          <a:noFill/>
        </p:spPr>
        <p:txBody>
          <a:bodyPr wrap="none">
            <a:spAutoFit/>
          </a:bodyPr>
          <a:lstStyle/>
          <a:p>
            <a:pPr>
              <a:defRPr sz="1500">
                <a:solidFill>
                  <a:srgbClr val="232D3A"/>
                </a:solidFill>
                <a:latin typeface="Aptos"/>
              </a:defRPr>
            </a:pPr>
            <a:r>
              <a:t>Perform two simultaneous predictions</a:t>
            </a:r>
          </a:p>
        </p:txBody>
      </p:sp>
      <p:sp>
        <p:nvSpPr>
          <p:cNvPr id="20" name="Rounded Rectangle 19"/>
          <p:cNvSpPr/>
          <p:nvPr/>
        </p:nvSpPr>
        <p:spPr>
          <a:xfrm>
            <a:off x="6172200" y="3383280"/>
            <a:ext cx="5303520" cy="9144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547872"/>
            <a:ext cx="4800600" cy="594360"/>
          </a:xfrm>
          <a:prstGeom prst="rect">
            <a:avLst/>
          </a:prstGeom>
          <a:noFill/>
        </p:spPr>
        <p:txBody>
          <a:bodyPr wrap="none">
            <a:spAutoFit/>
          </a:bodyPr>
          <a:lstStyle/>
          <a:p>
            <a:pPr>
              <a:defRPr sz="1500">
                <a:solidFill>
                  <a:srgbClr val="232D3A"/>
                </a:solidFill>
                <a:latin typeface="Aptos"/>
              </a:defRPr>
            </a:pPr>
            <a:r>
              <a:t>Evaluate model performance</a:t>
            </a:r>
          </a:p>
        </p:txBody>
      </p:sp>
      <p:sp>
        <p:nvSpPr>
          <p:cNvPr id="22" name="Rounded Rectangle 21"/>
          <p:cNvSpPr/>
          <p:nvPr/>
        </p:nvSpPr>
        <p:spPr>
          <a:xfrm>
            <a:off x="6172200" y="4526280"/>
            <a:ext cx="5303520" cy="9144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4690872"/>
            <a:ext cx="4800600" cy="594360"/>
          </a:xfrm>
          <a:prstGeom prst="rect">
            <a:avLst/>
          </a:prstGeom>
          <a:noFill/>
        </p:spPr>
        <p:txBody>
          <a:bodyPr wrap="none">
            <a:spAutoFit/>
          </a:bodyPr>
          <a:lstStyle/>
          <a:p>
            <a:pPr>
              <a:defRPr sz="1500">
                <a:solidFill>
                  <a:srgbClr val="232D3A"/>
                </a:solidFill>
                <a:latin typeface="Aptos"/>
              </a:defRPr>
            </a:pPr>
            <a:r>
              <a:t>Compare with traditional ML baselines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0515600" cy="384048"/>
          </a:xfrm>
          <a:prstGeom prst="rect">
            <a:avLst/>
          </a:prstGeom>
          <a:noFill/>
        </p:spPr>
        <p:txBody>
          <a:bodyPr wrap="none">
            <a:spAutoFit/>
          </a:bodyPr>
          <a:lstStyle/>
          <a:p>
            <a:pPr>
              <a:defRPr sz="2500" b="1">
                <a:solidFill>
                  <a:srgbClr val="FFFFFF"/>
                </a:solidFill>
                <a:latin typeface="Aptos Display"/>
              </a:defRPr>
            </a:pPr>
            <a:r>
              <a:t>Baseline Models &amp; Evaluation</a:t>
            </a:r>
          </a:p>
        </p:txBody>
      </p:sp>
      <p:sp>
        <p:nvSpPr>
          <p:cNvPr id="5" name="TextBox 4"/>
          <p:cNvSpPr txBox="1"/>
          <p:nvPr/>
        </p:nvSpPr>
        <p:spPr>
          <a:xfrm>
            <a:off x="11292840" y="146304"/>
            <a:ext cx="457200" cy="274320"/>
          </a:xfrm>
          <a:prstGeom prst="rect">
            <a:avLst/>
          </a:prstGeom>
          <a:noFill/>
        </p:spPr>
        <p:txBody>
          <a:bodyPr wrap="none">
            <a:spAutoFit/>
          </a:bodyPr>
          <a:lstStyle/>
          <a:p>
            <a:pPr algn="r">
              <a:defRPr sz="1200" b="1">
                <a:solidFill>
                  <a:srgbClr val="BED7EB"/>
                </a:solidFill>
                <a:latin typeface="Aptos"/>
              </a:defRPr>
            </a:pPr>
            <a:r>
              <a:t>6</a:t>
            </a:r>
          </a:p>
        </p:txBody>
      </p:sp>
      <p:sp>
        <p:nvSpPr>
          <p:cNvPr id="6" name="Rectangle 5"/>
          <p:cNvSpPr/>
          <p:nvPr/>
        </p:nvSpPr>
        <p:spPr>
          <a:xfrm>
            <a:off x="502920" y="6565392"/>
            <a:ext cx="11155680" cy="13716"/>
          </a:xfrm>
          <a:prstGeom prst="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
        <p:nvSpPr>
          <p:cNvPr id="8" name="Rounded Rectangle 7"/>
          <p:cNvSpPr/>
          <p:nvPr/>
        </p:nvSpPr>
        <p:spPr>
          <a:xfrm>
            <a:off x="685800" y="1143000"/>
            <a:ext cx="5120640" cy="48006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280160"/>
            <a:ext cx="4663440" cy="320040"/>
          </a:xfrm>
          <a:prstGeom prst="rect">
            <a:avLst/>
          </a:prstGeom>
          <a:noFill/>
        </p:spPr>
        <p:txBody>
          <a:bodyPr wrap="none">
            <a:spAutoFit/>
          </a:bodyPr>
          <a:lstStyle/>
          <a:p>
            <a:pPr>
              <a:defRPr sz="1700" b="1">
                <a:solidFill>
                  <a:srgbClr val="2268B4"/>
                </a:solidFill>
                <a:latin typeface="Aptos Display"/>
              </a:defRPr>
            </a:pPr>
            <a:r>
              <a:t>Baseline models</a:t>
            </a:r>
          </a:p>
        </p:txBody>
      </p:sp>
      <p:sp>
        <p:nvSpPr>
          <p:cNvPr id="10" name="TextBox 9"/>
          <p:cNvSpPr txBox="1"/>
          <p:nvPr/>
        </p:nvSpPr>
        <p:spPr>
          <a:xfrm>
            <a:off x="1051560" y="1828800"/>
            <a:ext cx="4389120" cy="594360"/>
          </a:xfrm>
          <a:prstGeom prst="rect">
            <a:avLst/>
          </a:prstGeom>
          <a:noFill/>
        </p:spPr>
        <p:txBody>
          <a:bodyPr wrap="none">
            <a:spAutoFit/>
          </a:bodyPr>
          <a:lstStyle/>
          <a:p>
            <a:pPr>
              <a:defRPr sz="1800" b="1">
                <a:solidFill>
                  <a:srgbClr val="232D3A"/>
                </a:solidFill>
                <a:latin typeface="Aptos"/>
              </a:defRPr>
            </a:pPr>
            <a:r>
              <a:t>Logistic Regression</a:t>
            </a:r>
          </a:p>
        </p:txBody>
      </p:sp>
      <p:sp>
        <p:nvSpPr>
          <p:cNvPr id="11" name="TextBox 10"/>
          <p:cNvSpPr txBox="1"/>
          <p:nvPr/>
        </p:nvSpPr>
        <p:spPr>
          <a:xfrm>
            <a:off x="1051560" y="2788920"/>
            <a:ext cx="4389120" cy="594360"/>
          </a:xfrm>
          <a:prstGeom prst="rect">
            <a:avLst/>
          </a:prstGeom>
          <a:noFill/>
        </p:spPr>
        <p:txBody>
          <a:bodyPr wrap="none">
            <a:spAutoFit/>
          </a:bodyPr>
          <a:lstStyle/>
          <a:p>
            <a:pPr>
              <a:defRPr sz="1800" b="1">
                <a:solidFill>
                  <a:srgbClr val="232D3A"/>
                </a:solidFill>
                <a:latin typeface="Aptos"/>
              </a:defRPr>
            </a:pPr>
            <a:r>
              <a:t>Random Forest</a:t>
            </a:r>
          </a:p>
        </p:txBody>
      </p:sp>
      <p:sp>
        <p:nvSpPr>
          <p:cNvPr id="12" name="TextBox 11"/>
          <p:cNvSpPr txBox="1"/>
          <p:nvPr/>
        </p:nvSpPr>
        <p:spPr>
          <a:xfrm>
            <a:off x="1051560" y="3749039"/>
            <a:ext cx="4389120" cy="594360"/>
          </a:xfrm>
          <a:prstGeom prst="rect">
            <a:avLst/>
          </a:prstGeom>
          <a:noFill/>
        </p:spPr>
        <p:txBody>
          <a:bodyPr wrap="none">
            <a:spAutoFit/>
          </a:bodyPr>
          <a:lstStyle/>
          <a:p>
            <a:pPr>
              <a:defRPr sz="1800" b="1">
                <a:solidFill>
                  <a:srgbClr val="232D3A"/>
                </a:solidFill>
                <a:latin typeface="Aptos"/>
              </a:defRPr>
            </a:pPr>
            <a:r>
              <a:t>XGBoost</a:t>
            </a:r>
          </a:p>
        </p:txBody>
      </p:sp>
      <p:sp>
        <p:nvSpPr>
          <p:cNvPr id="13" name="Rounded Rectangle 12"/>
          <p:cNvSpPr/>
          <p:nvPr/>
        </p:nvSpPr>
        <p:spPr>
          <a:xfrm>
            <a:off x="6263640" y="1143000"/>
            <a:ext cx="5212080" cy="48006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280160"/>
            <a:ext cx="4754880" cy="320040"/>
          </a:xfrm>
          <a:prstGeom prst="rect">
            <a:avLst/>
          </a:prstGeom>
          <a:noFill/>
        </p:spPr>
        <p:txBody>
          <a:bodyPr wrap="none">
            <a:spAutoFit/>
          </a:bodyPr>
          <a:lstStyle/>
          <a:p>
            <a:pPr>
              <a:defRPr sz="1700" b="1">
                <a:solidFill>
                  <a:srgbClr val="30A8BE"/>
                </a:solidFill>
                <a:latin typeface="Aptos Display"/>
              </a:defRPr>
            </a:pPr>
            <a:r>
              <a:t>Evaluation metrics:</a:t>
            </a:r>
          </a:p>
        </p:txBody>
      </p:sp>
      <p:sp>
        <p:nvSpPr>
          <p:cNvPr id="15" name="TextBox 14"/>
          <p:cNvSpPr txBox="1"/>
          <p:nvPr/>
        </p:nvSpPr>
        <p:spPr>
          <a:xfrm>
            <a:off x="6629400" y="1783080"/>
            <a:ext cx="4480560" cy="457200"/>
          </a:xfrm>
          <a:prstGeom prst="rect">
            <a:avLst/>
          </a:prstGeom>
          <a:noFill/>
        </p:spPr>
        <p:txBody>
          <a:bodyPr wrap="none">
            <a:spAutoFit/>
          </a:bodyPr>
          <a:lstStyle/>
          <a:p>
            <a:pPr>
              <a:defRPr sz="1600">
                <a:solidFill>
                  <a:srgbClr val="232D3A"/>
                </a:solidFill>
                <a:latin typeface="Aptos"/>
              </a:defRPr>
            </a:pPr>
            <a:r>
              <a:t>Accuracy</a:t>
            </a:r>
          </a:p>
        </p:txBody>
      </p:sp>
      <p:sp>
        <p:nvSpPr>
          <p:cNvPr id="16" name="TextBox 15"/>
          <p:cNvSpPr txBox="1"/>
          <p:nvPr/>
        </p:nvSpPr>
        <p:spPr>
          <a:xfrm>
            <a:off x="6629400" y="2496312"/>
            <a:ext cx="4480560" cy="457200"/>
          </a:xfrm>
          <a:prstGeom prst="rect">
            <a:avLst/>
          </a:prstGeom>
          <a:noFill/>
        </p:spPr>
        <p:txBody>
          <a:bodyPr wrap="none">
            <a:spAutoFit/>
          </a:bodyPr>
          <a:lstStyle/>
          <a:p>
            <a:pPr>
              <a:defRPr sz="1600">
                <a:solidFill>
                  <a:srgbClr val="232D3A"/>
                </a:solidFill>
                <a:latin typeface="Aptos"/>
              </a:defRPr>
            </a:pPr>
            <a:r>
              <a:t>Precision</a:t>
            </a:r>
          </a:p>
        </p:txBody>
      </p:sp>
      <p:sp>
        <p:nvSpPr>
          <p:cNvPr id="17" name="TextBox 16"/>
          <p:cNvSpPr txBox="1"/>
          <p:nvPr/>
        </p:nvSpPr>
        <p:spPr>
          <a:xfrm>
            <a:off x="6629400" y="3209544"/>
            <a:ext cx="4480560" cy="457200"/>
          </a:xfrm>
          <a:prstGeom prst="rect">
            <a:avLst/>
          </a:prstGeom>
          <a:noFill/>
        </p:spPr>
        <p:txBody>
          <a:bodyPr wrap="none">
            <a:spAutoFit/>
          </a:bodyPr>
          <a:lstStyle/>
          <a:p>
            <a:pPr>
              <a:defRPr sz="1600">
                <a:solidFill>
                  <a:srgbClr val="232D3A"/>
                </a:solidFill>
                <a:latin typeface="Aptos"/>
              </a:defRPr>
            </a:pPr>
            <a:r>
              <a:t>Recall</a:t>
            </a:r>
          </a:p>
        </p:txBody>
      </p:sp>
      <p:sp>
        <p:nvSpPr>
          <p:cNvPr id="18" name="TextBox 17"/>
          <p:cNvSpPr txBox="1"/>
          <p:nvPr/>
        </p:nvSpPr>
        <p:spPr>
          <a:xfrm>
            <a:off x="6629400" y="3922776"/>
            <a:ext cx="4480560" cy="457200"/>
          </a:xfrm>
          <a:prstGeom prst="rect">
            <a:avLst/>
          </a:prstGeom>
          <a:noFill/>
        </p:spPr>
        <p:txBody>
          <a:bodyPr wrap="none">
            <a:spAutoFit/>
          </a:bodyPr>
          <a:lstStyle/>
          <a:p>
            <a:pPr>
              <a:defRPr sz="1600">
                <a:solidFill>
                  <a:srgbClr val="232D3A"/>
                </a:solidFill>
                <a:latin typeface="Aptos"/>
              </a:defRPr>
            </a:pPr>
            <a:r>
              <a:t>F1-score</a:t>
            </a:r>
          </a:p>
        </p:txBody>
      </p:sp>
      <p:sp>
        <p:nvSpPr>
          <p:cNvPr id="19" name="TextBox 18"/>
          <p:cNvSpPr txBox="1"/>
          <p:nvPr/>
        </p:nvSpPr>
        <p:spPr>
          <a:xfrm>
            <a:off x="6629400" y="4636008"/>
            <a:ext cx="4480560" cy="457200"/>
          </a:xfrm>
          <a:prstGeom prst="rect">
            <a:avLst/>
          </a:prstGeom>
          <a:noFill/>
        </p:spPr>
        <p:txBody>
          <a:bodyPr wrap="none">
            <a:spAutoFit/>
          </a:bodyPr>
          <a:lstStyle/>
          <a:p>
            <a:pPr>
              <a:defRPr sz="1600">
                <a:solidFill>
                  <a:srgbClr val="232D3A"/>
                </a:solidFill>
                <a:latin typeface="Aptos"/>
              </a:defRPr>
            </a:pPr>
            <a:r>
              <a:t>Confusion Matrix</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0515600" cy="384048"/>
          </a:xfrm>
          <a:prstGeom prst="rect">
            <a:avLst/>
          </a:prstGeom>
          <a:noFill/>
        </p:spPr>
        <p:txBody>
          <a:bodyPr wrap="none">
            <a:spAutoFit/>
          </a:bodyPr>
          <a:lstStyle/>
          <a:p>
            <a:pPr>
              <a:defRPr sz="2500" b="1">
                <a:solidFill>
                  <a:srgbClr val="FFFFFF"/>
                </a:solidFill>
                <a:latin typeface="Aptos Display"/>
              </a:defRPr>
            </a:pPr>
            <a:r>
              <a:t>Current experimental evaluation</a:t>
            </a:r>
          </a:p>
        </p:txBody>
      </p:sp>
      <p:sp>
        <p:nvSpPr>
          <p:cNvPr id="5" name="TextBox 4"/>
          <p:cNvSpPr txBox="1"/>
          <p:nvPr/>
        </p:nvSpPr>
        <p:spPr>
          <a:xfrm>
            <a:off x="11292840" y="146304"/>
            <a:ext cx="457200" cy="274320"/>
          </a:xfrm>
          <a:prstGeom prst="rect">
            <a:avLst/>
          </a:prstGeom>
          <a:noFill/>
        </p:spPr>
        <p:txBody>
          <a:bodyPr wrap="none">
            <a:spAutoFit/>
          </a:bodyPr>
          <a:lstStyle/>
          <a:p>
            <a:pPr algn="r">
              <a:defRPr sz="1200" b="1">
                <a:solidFill>
                  <a:srgbClr val="BED7EB"/>
                </a:solidFill>
                <a:latin typeface="Aptos"/>
              </a:defRPr>
            </a:pPr>
            <a:r>
              <a:t>7</a:t>
            </a:r>
          </a:p>
        </p:txBody>
      </p:sp>
      <p:sp>
        <p:nvSpPr>
          <p:cNvPr id="6" name="Rectangle 5"/>
          <p:cNvSpPr/>
          <p:nvPr/>
        </p:nvSpPr>
        <p:spPr>
          <a:xfrm>
            <a:off x="502920" y="6565392"/>
            <a:ext cx="11155680" cy="13716"/>
          </a:xfrm>
          <a:prstGeom prst="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
        <p:nvSpPr>
          <p:cNvPr id="8" name="Rounded Rectangle 7"/>
          <p:cNvSpPr/>
          <p:nvPr/>
        </p:nvSpPr>
        <p:spPr>
          <a:xfrm>
            <a:off x="777240" y="1143000"/>
            <a:ext cx="10652760" cy="804672"/>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289304"/>
            <a:ext cx="10104120" cy="530352"/>
          </a:xfrm>
          <a:prstGeom prst="rect">
            <a:avLst/>
          </a:prstGeom>
          <a:noFill/>
        </p:spPr>
        <p:txBody>
          <a:bodyPr wrap="none">
            <a:spAutoFit/>
          </a:bodyPr>
          <a:lstStyle/>
          <a:p>
            <a:pPr>
              <a:defRPr sz="1550">
                <a:solidFill>
                  <a:srgbClr val="232D3A"/>
                </a:solidFill>
                <a:latin typeface="Aptos"/>
              </a:defRPr>
            </a:pPr>
            <a:r>
              <a:t>MT-DNN training and testing are being carried out.</a:t>
            </a:r>
          </a:p>
        </p:txBody>
      </p:sp>
      <p:sp>
        <p:nvSpPr>
          <p:cNvPr id="10" name="Rounded Rectangle 9"/>
          <p:cNvSpPr/>
          <p:nvPr/>
        </p:nvSpPr>
        <p:spPr>
          <a:xfrm>
            <a:off x="777240" y="2194560"/>
            <a:ext cx="10652760" cy="804672"/>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340864"/>
            <a:ext cx="10104120" cy="530352"/>
          </a:xfrm>
          <a:prstGeom prst="rect">
            <a:avLst/>
          </a:prstGeom>
          <a:noFill/>
        </p:spPr>
        <p:txBody>
          <a:bodyPr wrap="none">
            <a:spAutoFit/>
          </a:bodyPr>
          <a:lstStyle/>
          <a:p>
            <a:pPr>
              <a:defRPr sz="1550">
                <a:solidFill>
                  <a:srgbClr val="232D3A"/>
                </a:solidFill>
                <a:latin typeface="Aptos"/>
              </a:defRPr>
            </a:pPr>
            <a:r>
              <a:t>Performance will be evaluated using accuracy, precision, recall and F1-score.</a:t>
            </a:r>
          </a:p>
        </p:txBody>
      </p:sp>
      <p:sp>
        <p:nvSpPr>
          <p:cNvPr id="12" name="Rounded Rectangle 11"/>
          <p:cNvSpPr/>
          <p:nvPr/>
        </p:nvSpPr>
        <p:spPr>
          <a:xfrm>
            <a:off x="777240" y="3246120"/>
            <a:ext cx="10652760" cy="804672"/>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392424"/>
            <a:ext cx="10104120" cy="530352"/>
          </a:xfrm>
          <a:prstGeom prst="rect">
            <a:avLst/>
          </a:prstGeom>
          <a:noFill/>
        </p:spPr>
        <p:txBody>
          <a:bodyPr wrap="none">
            <a:spAutoFit/>
          </a:bodyPr>
          <a:lstStyle/>
          <a:p>
            <a:pPr>
              <a:defRPr sz="1550">
                <a:solidFill>
                  <a:srgbClr val="232D3A"/>
                </a:solidFill>
                <a:latin typeface="Aptos"/>
              </a:defRPr>
            </a:pPr>
            <a:r>
              <a:t>Confusion matrices will be used to analyze classification performance.</a:t>
            </a:r>
          </a:p>
        </p:txBody>
      </p:sp>
      <p:sp>
        <p:nvSpPr>
          <p:cNvPr id="14" name="Rounded Rectangle 13"/>
          <p:cNvSpPr/>
          <p:nvPr/>
        </p:nvSpPr>
        <p:spPr>
          <a:xfrm>
            <a:off x="777240" y="4297679"/>
            <a:ext cx="10652760" cy="804672"/>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443983"/>
            <a:ext cx="10104120" cy="530352"/>
          </a:xfrm>
          <a:prstGeom prst="rect">
            <a:avLst/>
          </a:prstGeom>
          <a:noFill/>
        </p:spPr>
        <p:txBody>
          <a:bodyPr wrap="none">
            <a:spAutoFit/>
          </a:bodyPr>
          <a:lstStyle/>
          <a:p>
            <a:pPr>
              <a:defRPr sz="1550">
                <a:solidFill>
                  <a:srgbClr val="232D3A"/>
                </a:solidFill>
                <a:latin typeface="Aptos"/>
              </a:defRPr>
            </a:pPr>
            <a:r>
              <a:t>Results will be compared with Logistic Regression, Random Forest and XGBoost.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0515600" cy="384048"/>
          </a:xfrm>
          <a:prstGeom prst="rect">
            <a:avLst/>
          </a:prstGeom>
          <a:noFill/>
        </p:spPr>
        <p:txBody>
          <a:bodyPr wrap="none">
            <a:spAutoFit/>
          </a:bodyPr>
          <a:lstStyle/>
          <a:p>
            <a:pPr>
              <a:defRPr sz="2500" b="1">
                <a:solidFill>
                  <a:srgbClr val="FFFFFF"/>
                </a:solidFill>
                <a:latin typeface="Aptos Display"/>
              </a:defRPr>
            </a:pPr>
            <a:r>
              <a:t>Current Progress</a:t>
            </a:r>
          </a:p>
        </p:txBody>
      </p:sp>
      <p:sp>
        <p:nvSpPr>
          <p:cNvPr id="5" name="TextBox 4"/>
          <p:cNvSpPr txBox="1"/>
          <p:nvPr/>
        </p:nvSpPr>
        <p:spPr>
          <a:xfrm>
            <a:off x="11292840" y="146304"/>
            <a:ext cx="457200" cy="274320"/>
          </a:xfrm>
          <a:prstGeom prst="rect">
            <a:avLst/>
          </a:prstGeom>
          <a:noFill/>
        </p:spPr>
        <p:txBody>
          <a:bodyPr wrap="none">
            <a:spAutoFit/>
          </a:bodyPr>
          <a:lstStyle/>
          <a:p>
            <a:pPr algn="r">
              <a:defRPr sz="1200" b="1">
                <a:solidFill>
                  <a:srgbClr val="BED7EB"/>
                </a:solidFill>
                <a:latin typeface="Aptos"/>
              </a:defRPr>
            </a:pPr>
            <a:r>
              <a:t>8</a:t>
            </a:r>
          </a:p>
        </p:txBody>
      </p:sp>
      <p:sp>
        <p:nvSpPr>
          <p:cNvPr id="6" name="Rectangle 5"/>
          <p:cNvSpPr/>
          <p:nvPr/>
        </p:nvSpPr>
        <p:spPr>
          <a:xfrm>
            <a:off x="502920" y="6565392"/>
            <a:ext cx="11155680" cy="13716"/>
          </a:xfrm>
          <a:prstGeom prst="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
        <p:nvSpPr>
          <p:cNvPr id="8" name="Rounded Rectangle 7"/>
          <p:cNvSpPr/>
          <p:nvPr/>
        </p:nvSpPr>
        <p:spPr>
          <a:xfrm>
            <a:off x="594360" y="1005840"/>
            <a:ext cx="5577840" cy="5257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143000"/>
            <a:ext cx="5120640" cy="320040"/>
          </a:xfrm>
          <a:prstGeom prst="rect">
            <a:avLst/>
          </a:prstGeom>
          <a:noFill/>
        </p:spPr>
        <p:txBody>
          <a:bodyPr wrap="none">
            <a:spAutoFit/>
          </a:bodyPr>
          <a:lstStyle/>
          <a:p>
            <a:pPr>
              <a:defRPr sz="1700" b="1">
                <a:solidFill>
                  <a:srgbClr val="2268B4"/>
                </a:solidFill>
                <a:latin typeface="Aptos Display"/>
              </a:defRPr>
            </a:pPr>
            <a:r>
              <a:t>Completed / In progress:</a:t>
            </a:r>
          </a:p>
        </p:txBody>
      </p:sp>
      <p:sp>
        <p:nvSpPr>
          <p:cNvPr id="10" name="TextBox 9"/>
          <p:cNvSpPr txBox="1"/>
          <p:nvPr/>
        </p:nvSpPr>
        <p:spPr>
          <a:xfrm>
            <a:off x="896112" y="1645920"/>
            <a:ext cx="4983480" cy="438912"/>
          </a:xfrm>
          <a:prstGeom prst="rect">
            <a:avLst/>
          </a:prstGeom>
          <a:noFill/>
        </p:spPr>
        <p:txBody>
          <a:bodyPr wrap="none">
            <a:spAutoFit/>
          </a:bodyPr>
          <a:lstStyle/>
          <a:p>
            <a:pPr>
              <a:defRPr sz="1450">
                <a:solidFill>
                  <a:srgbClr val="232D3A"/>
                </a:solidFill>
                <a:latin typeface="Aptos"/>
              </a:defRPr>
            </a:pPr>
            <a:r>
              <a:t>Problem definition finalized</a:t>
            </a:r>
          </a:p>
        </p:txBody>
      </p:sp>
      <p:sp>
        <p:nvSpPr>
          <p:cNvPr id="11" name="TextBox 10"/>
          <p:cNvSpPr txBox="1"/>
          <p:nvPr/>
        </p:nvSpPr>
        <p:spPr>
          <a:xfrm>
            <a:off x="896112" y="2304288"/>
            <a:ext cx="4983480" cy="438912"/>
          </a:xfrm>
          <a:prstGeom prst="rect">
            <a:avLst/>
          </a:prstGeom>
          <a:noFill/>
        </p:spPr>
        <p:txBody>
          <a:bodyPr wrap="none">
            <a:spAutoFit/>
          </a:bodyPr>
          <a:lstStyle/>
          <a:p>
            <a:pPr>
              <a:defRPr sz="1450">
                <a:solidFill>
                  <a:srgbClr val="232D3A"/>
                </a:solidFill>
                <a:latin typeface="Aptos"/>
              </a:defRPr>
            </a:pPr>
            <a:r>
              <a:t>MT-DNN approach identified</a:t>
            </a:r>
          </a:p>
        </p:txBody>
      </p:sp>
      <p:sp>
        <p:nvSpPr>
          <p:cNvPr id="12" name="TextBox 11"/>
          <p:cNvSpPr txBox="1"/>
          <p:nvPr/>
        </p:nvSpPr>
        <p:spPr>
          <a:xfrm>
            <a:off x="896112" y="2962656"/>
            <a:ext cx="4983480" cy="438912"/>
          </a:xfrm>
          <a:prstGeom prst="rect">
            <a:avLst/>
          </a:prstGeom>
          <a:noFill/>
        </p:spPr>
        <p:txBody>
          <a:bodyPr wrap="none">
            <a:spAutoFit/>
          </a:bodyPr>
          <a:lstStyle/>
          <a:p>
            <a:pPr>
              <a:defRPr sz="1450">
                <a:solidFill>
                  <a:srgbClr val="232D3A"/>
                </a:solidFill>
                <a:latin typeface="Aptos"/>
              </a:defRPr>
            </a:pPr>
            <a:r>
              <a:t>Two classification tasks defined</a:t>
            </a:r>
          </a:p>
        </p:txBody>
      </p:sp>
      <p:sp>
        <p:nvSpPr>
          <p:cNvPr id="13" name="TextBox 12"/>
          <p:cNvSpPr txBox="1"/>
          <p:nvPr/>
        </p:nvSpPr>
        <p:spPr>
          <a:xfrm>
            <a:off x="896112" y="3621024"/>
            <a:ext cx="4983480" cy="438912"/>
          </a:xfrm>
          <a:prstGeom prst="rect">
            <a:avLst/>
          </a:prstGeom>
          <a:noFill/>
        </p:spPr>
        <p:txBody>
          <a:bodyPr wrap="none">
            <a:spAutoFit/>
          </a:bodyPr>
          <a:lstStyle/>
          <a:p>
            <a:pPr>
              <a:defRPr sz="1450">
                <a:solidFill>
                  <a:srgbClr val="232D3A"/>
                </a:solidFill>
                <a:latin typeface="Aptos"/>
              </a:defRPr>
            </a:pPr>
            <a:r>
              <a:t>Baseline algorithms identified</a:t>
            </a:r>
          </a:p>
        </p:txBody>
      </p:sp>
      <p:sp>
        <p:nvSpPr>
          <p:cNvPr id="14" name="TextBox 13"/>
          <p:cNvSpPr txBox="1"/>
          <p:nvPr/>
        </p:nvSpPr>
        <p:spPr>
          <a:xfrm>
            <a:off x="896112" y="4279392"/>
            <a:ext cx="4983480" cy="438912"/>
          </a:xfrm>
          <a:prstGeom prst="rect">
            <a:avLst/>
          </a:prstGeom>
          <a:noFill/>
        </p:spPr>
        <p:txBody>
          <a:bodyPr wrap="none">
            <a:spAutoFit/>
          </a:bodyPr>
          <a:lstStyle/>
          <a:p>
            <a:pPr>
              <a:defRPr sz="1450">
                <a:solidFill>
                  <a:srgbClr val="232D3A"/>
                </a:solidFill>
                <a:latin typeface="Aptos"/>
              </a:defRPr>
            </a:pPr>
            <a:r>
              <a:t>Evaluation metrics finalized</a:t>
            </a:r>
          </a:p>
        </p:txBody>
      </p:sp>
      <p:sp>
        <p:nvSpPr>
          <p:cNvPr id="15" name="TextBox 14"/>
          <p:cNvSpPr txBox="1"/>
          <p:nvPr/>
        </p:nvSpPr>
        <p:spPr>
          <a:xfrm>
            <a:off x="896112" y="4937759"/>
            <a:ext cx="4983480" cy="438912"/>
          </a:xfrm>
          <a:prstGeom prst="rect">
            <a:avLst/>
          </a:prstGeom>
          <a:noFill/>
        </p:spPr>
        <p:txBody>
          <a:bodyPr wrap="none">
            <a:spAutoFit/>
          </a:bodyPr>
          <a:lstStyle/>
          <a:p>
            <a:pPr>
              <a:defRPr sz="1450">
                <a:solidFill>
                  <a:srgbClr val="232D3A"/>
                </a:solidFill>
                <a:latin typeface="Aptos"/>
              </a:defRPr>
            </a:pPr>
            <a:r>
              <a:t>Python-based implementation environment selected</a:t>
            </a:r>
          </a:p>
        </p:txBody>
      </p:sp>
      <p:sp>
        <p:nvSpPr>
          <p:cNvPr id="16" name="Rounded Rectangle 15"/>
          <p:cNvSpPr/>
          <p:nvPr/>
        </p:nvSpPr>
        <p:spPr>
          <a:xfrm>
            <a:off x="6400800" y="1005840"/>
            <a:ext cx="5212080" cy="525780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143000"/>
            <a:ext cx="4754880" cy="320040"/>
          </a:xfrm>
          <a:prstGeom prst="rect">
            <a:avLst/>
          </a:prstGeom>
          <a:noFill/>
        </p:spPr>
        <p:txBody>
          <a:bodyPr wrap="none">
            <a:spAutoFit/>
          </a:bodyPr>
          <a:lstStyle/>
          <a:p>
            <a:pPr>
              <a:defRPr sz="1700" b="1">
                <a:solidFill>
                  <a:srgbClr val="30A8BE"/>
                </a:solidFill>
                <a:latin typeface="Aptos Display"/>
              </a:defRPr>
            </a:pPr>
            <a:r>
              <a:t>Software environment:</a:t>
            </a:r>
          </a:p>
        </p:txBody>
      </p:sp>
      <p:sp>
        <p:nvSpPr>
          <p:cNvPr id="18" name="TextBox 17"/>
          <p:cNvSpPr txBox="1"/>
          <p:nvPr/>
        </p:nvSpPr>
        <p:spPr>
          <a:xfrm>
            <a:off x="6720840" y="1600200"/>
            <a:ext cx="4480560" cy="384048"/>
          </a:xfrm>
          <a:prstGeom prst="rect">
            <a:avLst/>
          </a:prstGeom>
          <a:noFill/>
        </p:spPr>
        <p:txBody>
          <a:bodyPr wrap="none">
            <a:spAutoFit/>
          </a:bodyPr>
          <a:lstStyle/>
          <a:p>
            <a:pPr>
              <a:defRPr sz="1450">
                <a:solidFill>
                  <a:srgbClr val="232D3A"/>
                </a:solidFill>
                <a:latin typeface="Aptos"/>
              </a:defRPr>
            </a:pPr>
            <a:r>
              <a:t>Python 3.10+</a:t>
            </a:r>
          </a:p>
        </p:txBody>
      </p:sp>
      <p:sp>
        <p:nvSpPr>
          <p:cNvPr id="19" name="TextBox 18"/>
          <p:cNvSpPr txBox="1"/>
          <p:nvPr/>
        </p:nvSpPr>
        <p:spPr>
          <a:xfrm>
            <a:off x="6720840" y="2167128"/>
            <a:ext cx="4480560" cy="384048"/>
          </a:xfrm>
          <a:prstGeom prst="rect">
            <a:avLst/>
          </a:prstGeom>
          <a:noFill/>
        </p:spPr>
        <p:txBody>
          <a:bodyPr wrap="none">
            <a:spAutoFit/>
          </a:bodyPr>
          <a:lstStyle/>
          <a:p>
            <a:pPr>
              <a:defRPr sz="1450">
                <a:solidFill>
                  <a:srgbClr val="232D3A"/>
                </a:solidFill>
                <a:latin typeface="Aptos"/>
              </a:defRPr>
            </a:pPr>
            <a:r>
              <a:t>Jupyter Notebook</a:t>
            </a:r>
          </a:p>
        </p:txBody>
      </p:sp>
      <p:sp>
        <p:nvSpPr>
          <p:cNvPr id="20" name="TextBox 19"/>
          <p:cNvSpPr txBox="1"/>
          <p:nvPr/>
        </p:nvSpPr>
        <p:spPr>
          <a:xfrm>
            <a:off x="6720840" y="2734056"/>
            <a:ext cx="4480560" cy="384048"/>
          </a:xfrm>
          <a:prstGeom prst="rect">
            <a:avLst/>
          </a:prstGeom>
          <a:noFill/>
        </p:spPr>
        <p:txBody>
          <a:bodyPr wrap="none">
            <a:spAutoFit/>
          </a:bodyPr>
          <a:lstStyle/>
          <a:p>
            <a:pPr>
              <a:defRPr sz="1450">
                <a:solidFill>
                  <a:srgbClr val="232D3A"/>
                </a:solidFill>
                <a:latin typeface="Aptos"/>
              </a:defRPr>
            </a:pPr>
            <a:r>
              <a:t>NumPy</a:t>
            </a:r>
          </a:p>
        </p:txBody>
      </p:sp>
      <p:sp>
        <p:nvSpPr>
          <p:cNvPr id="21" name="TextBox 20"/>
          <p:cNvSpPr txBox="1"/>
          <p:nvPr/>
        </p:nvSpPr>
        <p:spPr>
          <a:xfrm>
            <a:off x="6720840" y="3300984"/>
            <a:ext cx="4480560" cy="384048"/>
          </a:xfrm>
          <a:prstGeom prst="rect">
            <a:avLst/>
          </a:prstGeom>
          <a:noFill/>
        </p:spPr>
        <p:txBody>
          <a:bodyPr wrap="none">
            <a:spAutoFit/>
          </a:bodyPr>
          <a:lstStyle/>
          <a:p>
            <a:pPr>
              <a:defRPr sz="1450">
                <a:solidFill>
                  <a:srgbClr val="232D3A"/>
                </a:solidFill>
                <a:latin typeface="Aptos"/>
              </a:defRPr>
            </a:pPr>
            <a:r>
              <a:t>Pandas</a:t>
            </a:r>
          </a:p>
        </p:txBody>
      </p:sp>
      <p:sp>
        <p:nvSpPr>
          <p:cNvPr id="22" name="TextBox 21"/>
          <p:cNvSpPr txBox="1"/>
          <p:nvPr/>
        </p:nvSpPr>
        <p:spPr>
          <a:xfrm>
            <a:off x="6720840" y="3867912"/>
            <a:ext cx="4480560" cy="384048"/>
          </a:xfrm>
          <a:prstGeom prst="rect">
            <a:avLst/>
          </a:prstGeom>
          <a:noFill/>
        </p:spPr>
        <p:txBody>
          <a:bodyPr wrap="none">
            <a:spAutoFit/>
          </a:bodyPr>
          <a:lstStyle/>
          <a:p>
            <a:pPr>
              <a:defRPr sz="1450">
                <a:solidFill>
                  <a:srgbClr val="232D3A"/>
                </a:solidFill>
                <a:latin typeface="Aptos"/>
              </a:defRPr>
            </a:pPr>
            <a:r>
              <a:t>Scikit-learn</a:t>
            </a:r>
          </a:p>
        </p:txBody>
      </p:sp>
      <p:sp>
        <p:nvSpPr>
          <p:cNvPr id="23" name="TextBox 22"/>
          <p:cNvSpPr txBox="1"/>
          <p:nvPr/>
        </p:nvSpPr>
        <p:spPr>
          <a:xfrm>
            <a:off x="6720840" y="4434840"/>
            <a:ext cx="4480560" cy="384048"/>
          </a:xfrm>
          <a:prstGeom prst="rect">
            <a:avLst/>
          </a:prstGeom>
          <a:noFill/>
        </p:spPr>
        <p:txBody>
          <a:bodyPr wrap="none">
            <a:spAutoFit/>
          </a:bodyPr>
          <a:lstStyle/>
          <a:p>
            <a:pPr>
              <a:defRPr sz="1450">
                <a:solidFill>
                  <a:srgbClr val="232D3A"/>
                </a:solidFill>
                <a:latin typeface="Aptos"/>
              </a:defRPr>
            </a:pPr>
            <a:r>
              <a:t>TensorFlow/Keras</a:t>
            </a:r>
          </a:p>
        </p:txBody>
      </p:sp>
      <p:sp>
        <p:nvSpPr>
          <p:cNvPr id="24" name="TextBox 23"/>
          <p:cNvSpPr txBox="1"/>
          <p:nvPr/>
        </p:nvSpPr>
        <p:spPr>
          <a:xfrm>
            <a:off x="6720840" y="5001768"/>
            <a:ext cx="4480560" cy="384048"/>
          </a:xfrm>
          <a:prstGeom prst="rect">
            <a:avLst/>
          </a:prstGeom>
          <a:noFill/>
        </p:spPr>
        <p:txBody>
          <a:bodyPr wrap="none">
            <a:spAutoFit/>
          </a:bodyPr>
          <a:lstStyle/>
          <a:p>
            <a:pPr>
              <a:defRPr sz="1450">
                <a:solidFill>
                  <a:srgbClr val="232D3A"/>
                </a:solidFill>
                <a:latin typeface="Aptos"/>
              </a:defRPr>
            </a:pPr>
            <a:r>
              <a:t>Matplotlib</a:t>
            </a:r>
          </a:p>
        </p:txBody>
      </p:sp>
      <p:sp>
        <p:nvSpPr>
          <p:cNvPr id="25" name="TextBox 24"/>
          <p:cNvSpPr txBox="1"/>
          <p:nvPr/>
        </p:nvSpPr>
        <p:spPr>
          <a:xfrm>
            <a:off x="6720840" y="5568696"/>
            <a:ext cx="4480560" cy="384048"/>
          </a:xfrm>
          <a:prstGeom prst="rect">
            <a:avLst/>
          </a:prstGeom>
          <a:noFill/>
        </p:spPr>
        <p:txBody>
          <a:bodyPr wrap="none">
            <a:spAutoFit/>
          </a:bodyPr>
          <a:lstStyle/>
          <a:p>
            <a:pPr>
              <a:defRPr sz="1450">
                <a:solidFill>
                  <a:srgbClr val="232D3A"/>
                </a:solidFill>
                <a:latin typeface="Aptos"/>
              </a:defRPr>
            </a:pPr>
            <a:r>
              <a:t>Seaborn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0515600" cy="384048"/>
          </a:xfrm>
          <a:prstGeom prst="rect">
            <a:avLst/>
          </a:prstGeom>
          <a:noFill/>
        </p:spPr>
        <p:txBody>
          <a:bodyPr wrap="none">
            <a:spAutoFit/>
          </a:bodyPr>
          <a:lstStyle/>
          <a:p>
            <a:pPr>
              <a:defRPr sz="2500" b="1">
                <a:solidFill>
                  <a:srgbClr val="FFFFFF"/>
                </a:solidFill>
                <a:latin typeface="Aptos Display"/>
              </a:defRPr>
            </a:pPr>
            <a:r>
              <a:t>Remaining Work &amp; Expected Outcome</a:t>
            </a:r>
          </a:p>
        </p:txBody>
      </p:sp>
      <p:sp>
        <p:nvSpPr>
          <p:cNvPr id="5" name="TextBox 4"/>
          <p:cNvSpPr txBox="1"/>
          <p:nvPr/>
        </p:nvSpPr>
        <p:spPr>
          <a:xfrm>
            <a:off x="11292840" y="146304"/>
            <a:ext cx="411480" cy="274320"/>
          </a:xfrm>
          <a:prstGeom prst="rect">
            <a:avLst/>
          </a:prstGeom>
          <a:noFill/>
        </p:spPr>
        <p:txBody>
          <a:bodyPr wrap="none">
            <a:spAutoFit/>
          </a:bodyPr>
          <a:lstStyle/>
          <a:p>
            <a:pPr algn="r">
              <a:defRPr sz="1200" b="1">
                <a:solidFill>
                  <a:srgbClr val="BED7EB"/>
                </a:solidFill>
                <a:latin typeface="Aptos"/>
              </a:defRPr>
            </a:pPr>
            <a:r>
              <a:t>9</a:t>
            </a:r>
          </a:p>
        </p:txBody>
      </p:sp>
      <p:sp>
        <p:nvSpPr>
          <p:cNvPr id="6" name="Rectangle 5"/>
          <p:cNvSpPr/>
          <p:nvPr/>
        </p:nvSpPr>
        <p:spPr>
          <a:xfrm>
            <a:off x="502920" y="6565392"/>
            <a:ext cx="11155680" cy="13716"/>
          </a:xfrm>
          <a:prstGeom prst="rect">
            <a:avLst/>
          </a:prstGeom>
          <a:solidFill>
            <a:srgbClr val="DCE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92824"/>
            <a:ext cx="10972800" cy="182880"/>
          </a:xfrm>
          <a:prstGeom prst="rect">
            <a:avLst/>
          </a:prstGeom>
          <a:noFill/>
        </p:spPr>
        <p:txBody>
          <a:bodyPr wrap="none">
            <a:spAutoFit/>
          </a:bodyPr>
          <a:lstStyle/>
          <a:p>
            <a:pPr>
              <a:defRPr sz="850">
                <a:solidFill>
                  <a:srgbClr val="5F6E80"/>
                </a:solidFill>
                <a:latin typeface="Aptos"/>
              </a:defRPr>
            </a:pPr>
            <a:r>
              <a:t>Multi-Task Deep Neural Network • UAV Emergency Communication</a:t>
            </a:r>
          </a:p>
        </p:txBody>
      </p:sp>
      <p:sp>
        <p:nvSpPr>
          <p:cNvPr id="8" name="Rounded Rectangle 7"/>
          <p:cNvSpPr/>
          <p:nvPr/>
        </p:nvSpPr>
        <p:spPr>
          <a:xfrm>
            <a:off x="594360" y="960120"/>
            <a:ext cx="5532120" cy="534924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960120"/>
            <a:ext cx="82296" cy="5349240"/>
          </a:xfrm>
          <a:prstGeom prst="rect">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216152"/>
            <a:ext cx="4892040" cy="411480"/>
          </a:xfrm>
          <a:prstGeom prst="rect">
            <a:avLst/>
          </a:prstGeom>
          <a:noFill/>
        </p:spPr>
        <p:txBody>
          <a:bodyPr wrap="none">
            <a:spAutoFit/>
          </a:bodyPr>
          <a:lstStyle/>
          <a:p>
            <a:pPr>
              <a:defRPr sz="2000" b="1">
                <a:solidFill>
                  <a:srgbClr val="2268B4"/>
                </a:solidFill>
                <a:latin typeface="Aptos Display"/>
              </a:defRPr>
            </a:pPr>
            <a:r>
              <a:t>Remaining Work:</a:t>
            </a:r>
          </a:p>
        </p:txBody>
      </p:sp>
      <p:sp>
        <p:nvSpPr>
          <p:cNvPr id="11" name="Rounded Rectangle 10"/>
          <p:cNvSpPr/>
          <p:nvPr/>
        </p:nvSpPr>
        <p:spPr>
          <a:xfrm>
            <a:off x="6355080" y="960120"/>
            <a:ext cx="5257800" cy="5349240"/>
          </a:xfrm>
          <a:prstGeom prst="roundRect">
            <a:avLst/>
          </a:prstGeom>
          <a:solidFill>
            <a:srgbClr val="FFFFFF"/>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960120"/>
            <a:ext cx="82296" cy="5349240"/>
          </a:xfrm>
          <a:prstGeom prst="rect">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216152"/>
            <a:ext cx="4617720" cy="411480"/>
          </a:xfrm>
          <a:prstGeom prst="rect">
            <a:avLst/>
          </a:prstGeom>
          <a:noFill/>
        </p:spPr>
        <p:txBody>
          <a:bodyPr wrap="none">
            <a:spAutoFit/>
          </a:bodyPr>
          <a:lstStyle/>
          <a:p>
            <a:pPr>
              <a:defRPr sz="2000" b="1">
                <a:solidFill>
                  <a:srgbClr val="30A8BE"/>
                </a:solidFill>
                <a:latin typeface="Aptos Display"/>
              </a:defRPr>
            </a:pPr>
            <a:r>
              <a:t>Expected Outcome:</a:t>
            </a:r>
          </a:p>
        </p:txBody>
      </p:sp>
      <p:sp>
        <p:nvSpPr>
          <p:cNvPr id="14" name="Oval 13"/>
          <p:cNvSpPr/>
          <p:nvPr/>
        </p:nvSpPr>
        <p:spPr>
          <a:xfrm>
            <a:off x="896112" y="1828800"/>
            <a:ext cx="438912" cy="438912"/>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1</a:t>
            </a:r>
          </a:p>
        </p:txBody>
      </p:sp>
      <p:sp>
        <p:nvSpPr>
          <p:cNvPr id="15" name="TextBox 14"/>
          <p:cNvSpPr txBox="1"/>
          <p:nvPr/>
        </p:nvSpPr>
        <p:spPr>
          <a:xfrm>
            <a:off x="1517904" y="1810512"/>
            <a:ext cx="4251959" cy="640080"/>
          </a:xfrm>
          <a:prstGeom prst="rect">
            <a:avLst/>
          </a:prstGeom>
          <a:noFill/>
        </p:spPr>
        <p:txBody>
          <a:bodyPr wrap="square" anchor="ctr">
            <a:spAutoFit/>
          </a:bodyPr>
          <a:lstStyle/>
          <a:p>
            <a:pPr>
              <a:spcAft>
                <a:spcPts val="0"/>
              </a:spcAft>
              <a:defRPr sz="1450">
                <a:solidFill>
                  <a:srgbClr val="232D3A"/>
                </a:solidFill>
                <a:latin typeface="Aptos"/>
              </a:defRPr>
            </a:pPr>
            <a:r>
              <a:t>Train and tune the MT-DNN model</a:t>
            </a:r>
          </a:p>
        </p:txBody>
      </p:sp>
      <p:sp>
        <p:nvSpPr>
          <p:cNvPr id="16" name="Oval 15"/>
          <p:cNvSpPr/>
          <p:nvPr/>
        </p:nvSpPr>
        <p:spPr>
          <a:xfrm>
            <a:off x="896112" y="2880360"/>
            <a:ext cx="438912" cy="438912"/>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2</a:t>
            </a:r>
          </a:p>
        </p:txBody>
      </p:sp>
      <p:sp>
        <p:nvSpPr>
          <p:cNvPr id="17" name="TextBox 16"/>
          <p:cNvSpPr txBox="1"/>
          <p:nvPr/>
        </p:nvSpPr>
        <p:spPr>
          <a:xfrm>
            <a:off x="1517904" y="2862072"/>
            <a:ext cx="4251959" cy="640080"/>
          </a:xfrm>
          <a:prstGeom prst="rect">
            <a:avLst/>
          </a:prstGeom>
          <a:noFill/>
        </p:spPr>
        <p:txBody>
          <a:bodyPr wrap="square" anchor="ctr">
            <a:spAutoFit/>
          </a:bodyPr>
          <a:lstStyle/>
          <a:p>
            <a:pPr>
              <a:spcAft>
                <a:spcPts val="0"/>
              </a:spcAft>
              <a:defRPr sz="1450">
                <a:solidFill>
                  <a:srgbClr val="232D3A"/>
                </a:solidFill>
                <a:latin typeface="Aptos"/>
              </a:defRPr>
            </a:pPr>
            <a:r>
              <a:t>Evaluate both classification tasks</a:t>
            </a:r>
          </a:p>
        </p:txBody>
      </p:sp>
      <p:sp>
        <p:nvSpPr>
          <p:cNvPr id="18" name="Oval 17"/>
          <p:cNvSpPr/>
          <p:nvPr/>
        </p:nvSpPr>
        <p:spPr>
          <a:xfrm>
            <a:off x="896112" y="3931920"/>
            <a:ext cx="438912" cy="438912"/>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3</a:t>
            </a:r>
          </a:p>
        </p:txBody>
      </p:sp>
      <p:sp>
        <p:nvSpPr>
          <p:cNvPr id="19" name="TextBox 18"/>
          <p:cNvSpPr txBox="1"/>
          <p:nvPr/>
        </p:nvSpPr>
        <p:spPr>
          <a:xfrm>
            <a:off x="1517904" y="3913632"/>
            <a:ext cx="4251959" cy="640080"/>
          </a:xfrm>
          <a:prstGeom prst="rect">
            <a:avLst/>
          </a:prstGeom>
          <a:noFill/>
        </p:spPr>
        <p:txBody>
          <a:bodyPr wrap="square" anchor="ctr">
            <a:spAutoFit/>
          </a:bodyPr>
          <a:lstStyle/>
          <a:p>
            <a:pPr>
              <a:spcAft>
                <a:spcPts val="0"/>
              </a:spcAft>
              <a:defRPr sz="1450">
                <a:solidFill>
                  <a:srgbClr val="232D3A"/>
                </a:solidFill>
                <a:latin typeface="Aptos"/>
              </a:defRPr>
            </a:pPr>
            <a:r>
              <a:t>Compare MT-DNN performance with baseline models</a:t>
            </a:r>
          </a:p>
        </p:txBody>
      </p:sp>
      <p:sp>
        <p:nvSpPr>
          <p:cNvPr id="20" name="Oval 19"/>
          <p:cNvSpPr/>
          <p:nvPr/>
        </p:nvSpPr>
        <p:spPr>
          <a:xfrm>
            <a:off x="896112" y="4983479"/>
            <a:ext cx="438912" cy="438912"/>
          </a:xfrm>
          <a:prstGeom prst="ellipse">
            <a:avLst/>
          </a:prstGeom>
          <a:solidFill>
            <a:srgbClr val="22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4</a:t>
            </a:r>
          </a:p>
        </p:txBody>
      </p:sp>
      <p:sp>
        <p:nvSpPr>
          <p:cNvPr id="21" name="TextBox 20"/>
          <p:cNvSpPr txBox="1"/>
          <p:nvPr/>
        </p:nvSpPr>
        <p:spPr>
          <a:xfrm>
            <a:off x="1517904" y="4965192"/>
            <a:ext cx="4251959" cy="640080"/>
          </a:xfrm>
          <a:prstGeom prst="rect">
            <a:avLst/>
          </a:prstGeom>
          <a:noFill/>
        </p:spPr>
        <p:txBody>
          <a:bodyPr wrap="square" anchor="ctr">
            <a:spAutoFit/>
          </a:bodyPr>
          <a:lstStyle/>
          <a:p>
            <a:pPr>
              <a:spcAft>
                <a:spcPts val="0"/>
              </a:spcAft>
              <a:defRPr sz="1450">
                <a:solidFill>
                  <a:srgbClr val="232D3A"/>
                </a:solidFill>
                <a:latin typeface="Aptos"/>
              </a:defRPr>
            </a:pPr>
            <a:r>
              <a:t>Analyze results using evaluation metrics and confusion matrices</a:t>
            </a:r>
          </a:p>
        </p:txBody>
      </p:sp>
      <p:sp>
        <p:nvSpPr>
          <p:cNvPr id="22" name="Oval 21"/>
          <p:cNvSpPr/>
          <p:nvPr/>
        </p:nvSpPr>
        <p:spPr>
          <a:xfrm>
            <a:off x="6656832" y="1783080"/>
            <a:ext cx="438912" cy="438912"/>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1</a:t>
            </a:r>
          </a:p>
        </p:txBody>
      </p:sp>
      <p:sp>
        <p:nvSpPr>
          <p:cNvPr id="23" name="TextBox 22"/>
          <p:cNvSpPr txBox="1"/>
          <p:nvPr/>
        </p:nvSpPr>
        <p:spPr>
          <a:xfrm>
            <a:off x="7278624" y="1764792"/>
            <a:ext cx="3931920" cy="640080"/>
          </a:xfrm>
          <a:prstGeom prst="rect">
            <a:avLst/>
          </a:prstGeom>
          <a:noFill/>
        </p:spPr>
        <p:txBody>
          <a:bodyPr wrap="square" anchor="ctr">
            <a:spAutoFit/>
          </a:bodyPr>
          <a:lstStyle/>
          <a:p>
            <a:pPr>
              <a:spcAft>
                <a:spcPts val="0"/>
              </a:spcAft>
              <a:defRPr sz="1450">
                <a:solidFill>
                  <a:srgbClr val="232D3A"/>
                </a:solidFill>
                <a:latin typeface="Aptos"/>
              </a:defRPr>
            </a:pPr>
            <a:r>
              <a:t>Simultaneous prediction of message priority and semantic-loss tolerance</a:t>
            </a:r>
          </a:p>
        </p:txBody>
      </p:sp>
      <p:sp>
        <p:nvSpPr>
          <p:cNvPr id="24" name="Oval 23"/>
          <p:cNvSpPr/>
          <p:nvPr/>
        </p:nvSpPr>
        <p:spPr>
          <a:xfrm>
            <a:off x="6656832" y="2862072"/>
            <a:ext cx="438912" cy="438912"/>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2</a:t>
            </a:r>
          </a:p>
        </p:txBody>
      </p:sp>
      <p:sp>
        <p:nvSpPr>
          <p:cNvPr id="25" name="TextBox 24"/>
          <p:cNvSpPr txBox="1"/>
          <p:nvPr/>
        </p:nvSpPr>
        <p:spPr>
          <a:xfrm>
            <a:off x="7278624" y="2843784"/>
            <a:ext cx="3931920" cy="640080"/>
          </a:xfrm>
          <a:prstGeom prst="rect">
            <a:avLst/>
          </a:prstGeom>
          <a:noFill/>
        </p:spPr>
        <p:txBody>
          <a:bodyPr wrap="square" anchor="ctr">
            <a:spAutoFit/>
          </a:bodyPr>
          <a:lstStyle/>
          <a:p>
            <a:pPr>
              <a:spcAft>
                <a:spcPts val="0"/>
              </a:spcAft>
              <a:defRPr sz="1450">
                <a:solidFill>
                  <a:srgbClr val="232D3A"/>
                </a:solidFill>
                <a:latin typeface="Aptos"/>
              </a:defRPr>
            </a:pPr>
            <a:r>
              <a:t>More efficient use of limited UAV communication resources</a:t>
            </a:r>
          </a:p>
        </p:txBody>
      </p:sp>
      <p:sp>
        <p:nvSpPr>
          <p:cNvPr id="26" name="Oval 25"/>
          <p:cNvSpPr/>
          <p:nvPr/>
        </p:nvSpPr>
        <p:spPr>
          <a:xfrm>
            <a:off x="6656832" y="3941063"/>
            <a:ext cx="438912" cy="438912"/>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3</a:t>
            </a:r>
          </a:p>
        </p:txBody>
      </p:sp>
      <p:sp>
        <p:nvSpPr>
          <p:cNvPr id="27" name="TextBox 26"/>
          <p:cNvSpPr txBox="1"/>
          <p:nvPr/>
        </p:nvSpPr>
        <p:spPr>
          <a:xfrm>
            <a:off x="7278624" y="3922776"/>
            <a:ext cx="3931920" cy="640080"/>
          </a:xfrm>
          <a:prstGeom prst="rect">
            <a:avLst/>
          </a:prstGeom>
          <a:noFill/>
        </p:spPr>
        <p:txBody>
          <a:bodyPr wrap="square" anchor="ctr">
            <a:spAutoFit/>
          </a:bodyPr>
          <a:lstStyle/>
          <a:p>
            <a:pPr>
              <a:spcAft>
                <a:spcPts val="0"/>
              </a:spcAft>
              <a:defRPr sz="1450">
                <a:solidFill>
                  <a:srgbClr val="232D3A"/>
                </a:solidFill>
                <a:latin typeface="Aptos"/>
              </a:defRPr>
            </a:pPr>
            <a:r>
              <a:t>Reduced unnecessary data transmission and communication delays</a:t>
            </a:r>
          </a:p>
        </p:txBody>
      </p:sp>
      <p:sp>
        <p:nvSpPr>
          <p:cNvPr id="28" name="Oval 27"/>
          <p:cNvSpPr/>
          <p:nvPr/>
        </p:nvSpPr>
        <p:spPr>
          <a:xfrm>
            <a:off x="6656832" y="5020056"/>
            <a:ext cx="438912" cy="438912"/>
          </a:xfrm>
          <a:prstGeom prst="ellipse">
            <a:avLst/>
          </a:prstGeom>
          <a:solidFill>
            <a:srgbClr val="30A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4</a:t>
            </a:r>
          </a:p>
        </p:txBody>
      </p:sp>
      <p:sp>
        <p:nvSpPr>
          <p:cNvPr id="29" name="TextBox 28"/>
          <p:cNvSpPr txBox="1"/>
          <p:nvPr/>
        </p:nvSpPr>
        <p:spPr>
          <a:xfrm>
            <a:off x="7278624" y="5001768"/>
            <a:ext cx="3931920" cy="640080"/>
          </a:xfrm>
          <a:prstGeom prst="rect">
            <a:avLst/>
          </a:prstGeom>
          <a:noFill/>
        </p:spPr>
        <p:txBody>
          <a:bodyPr wrap="square" anchor="ctr">
            <a:spAutoFit/>
          </a:bodyPr>
          <a:lstStyle/>
          <a:p>
            <a:pPr>
              <a:spcAft>
                <a:spcPts val="0"/>
              </a:spcAft>
              <a:defRPr sz="1450">
                <a:solidFill>
                  <a:srgbClr val="232D3A"/>
                </a:solidFill>
                <a:latin typeface="Aptos"/>
              </a:defRPr>
            </a:pPr>
            <a:r>
              <a:t>Improved support for reliable emergency information delivery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1097280"/>
          </a:xfrm>
          <a:prstGeom prst="rect">
            <a:avLst/>
          </a:prstGeom>
          <a:noFill/>
        </p:spPr>
        <p:txBody>
          <a:bodyPr wrap="none">
            <a:spAutoFit/>
          </a:bodyPr>
          <a:lstStyle/>
          <a:p>
            <a:pPr algn="ctr">
              <a:defRPr sz="4400" b="1">
                <a:solidFill>
                  <a:srgbClr val="FFFFFF"/>
                </a:solidFill>
                <a:latin typeface="Aptos Display"/>
              </a:defRPr>
            </a:pPr>
            <a:r>
              <a:t>Thank You</a:t>
            </a:r>
          </a:p>
        </p:txBody>
      </p:sp>
      <p:sp>
        <p:nvSpPr>
          <p:cNvPr id="4" name="TextBox 3"/>
          <p:cNvSpPr txBox="1"/>
          <p:nvPr/>
        </p:nvSpPr>
        <p:spPr>
          <a:xfrm>
            <a:off x="914400" y="3429000"/>
            <a:ext cx="10332720" cy="548640"/>
          </a:xfrm>
          <a:prstGeom prst="rect">
            <a:avLst/>
          </a:prstGeom>
          <a:noFill/>
        </p:spPr>
        <p:txBody>
          <a:bodyPr wrap="none">
            <a:spAutoFit/>
          </a:bodyPr>
          <a:lstStyle/>
          <a:p>
            <a:pPr algn="ctr">
              <a:defRPr sz="1400">
                <a:solidFill>
                  <a:srgbClr val="C8DCEB"/>
                </a:solidFill>
                <a:latin typeface="Aptos"/>
              </a:defRPr>
            </a:pPr>
            <a:r>
              <a:t>Multi-Task Deep Neural Network for Emergency Message Priority and Semantic-Loss Tolerance Prediction in UAV Networks.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DAHWNbUFvEA</dc:identifier>
  <dcterms:modified xsi:type="dcterms:W3CDTF">2011-08-01T06:04:30Z</dcterms:modified>
  <cp:revision>1</cp:revision>
  <dc:title>Multi-Task Deep Neural Network for Emergency Message Priority and Semantic-Loss Tolerance Prediction in UAV Networks.</dc:title>
</cp:coreProperties>
</file>